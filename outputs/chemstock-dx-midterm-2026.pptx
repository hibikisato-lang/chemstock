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3a57188d1e464e" /><Relationship Type="http://schemas.openxmlformats.org/officeDocument/2006/relationships/extended-properties" Target="/docProps/app.xml" Id="R4eaa7b5c2b774c18" /><Relationship Type="http://schemas.openxmlformats.org/officeDocument/2006/relationships/officeDocument" Target="/ppt/presentation.xml" Id="R4e713012f0804a50" /></Relationships>
</file>

<file path=ppt/presentation.xml><?xml version="1.0" encoding="utf-8"?>
<p:presentation xmlns:p="http://schemas.openxmlformats.org/presentationml/2006/main">
  <p:sldMasterIdLst>
    <p:sldMasterId xmlns:r="http://schemas.openxmlformats.org/officeDocument/2006/relationships" id="2147483648" r:id="R6a5d256c0c0349cd"/>
  </p:sldMasterIdLst>
  <p:notesMasterIdLst>
    <p:notesMasterId xmlns:r="http://schemas.openxmlformats.org/officeDocument/2006/relationships" r:id="R32f09ca928504f10"/>
  </p:notesMasterIdLst>
  <p:sldIdLst>
    <p:sldId xmlns:r="http://schemas.openxmlformats.org/officeDocument/2006/relationships" id="256" r:id="R4f0007705f2b4bc4"/>
    <p:sldId xmlns:r="http://schemas.openxmlformats.org/officeDocument/2006/relationships" id="257" r:id="R22c0eca020b648c2"/>
    <p:sldId xmlns:r="http://schemas.openxmlformats.org/officeDocument/2006/relationships" id="258" r:id="Rab44c156fc8f42f6"/>
    <p:sldId xmlns:r="http://schemas.openxmlformats.org/officeDocument/2006/relationships" id="259" r:id="R71ae2066cc474e20"/>
    <p:sldId xmlns:r="http://schemas.openxmlformats.org/officeDocument/2006/relationships" id="260" r:id="Rd3015433aca24211"/>
    <p:sldId xmlns:r="http://schemas.openxmlformats.org/officeDocument/2006/relationships" id="261" r:id="R66a5df930cd448ad"/>
    <p:sldId xmlns:r="http://schemas.openxmlformats.org/officeDocument/2006/relationships" id="262" r:id="R246c6f40b3da4a1b"/>
    <p:sldId xmlns:r="http://schemas.openxmlformats.org/officeDocument/2006/relationships" id="263" r:id="Rb87cde13dd11412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6ecfc33e0f493b" /><Relationship Type="http://schemas.openxmlformats.org/officeDocument/2006/relationships/slideMaster" Target="/ppt/slideMasters/slideMaster1.xml" Id="R6a5d256c0c0349cd" /><Relationship Type="http://schemas.openxmlformats.org/officeDocument/2006/relationships/notesMaster" Target="/ppt/notesMasters/notesMaster1.xml" Id="R32f09ca928504f10" /><Relationship Type="http://schemas.openxmlformats.org/officeDocument/2006/relationships/presProps" Target="/ppt/presProps.xml" Id="R4a72bb7591694add" /><Relationship Type="http://schemas.openxmlformats.org/officeDocument/2006/relationships/tableStyles" Target="/ppt/tableStyles.xml" Id="R7fa418e6b9414167" /><Relationship Type="http://schemas.openxmlformats.org/officeDocument/2006/relationships/slide" Target="/ppt/slides/slide1.xml" Id="R4f0007705f2b4bc4" /><Relationship Type="http://schemas.openxmlformats.org/officeDocument/2006/relationships/slide" Target="/ppt/slides/slide2.xml" Id="R22c0eca020b648c2" /><Relationship Type="http://schemas.openxmlformats.org/officeDocument/2006/relationships/slide" Target="/ppt/slides/slide3.xml" Id="Rab44c156fc8f42f6" /><Relationship Type="http://schemas.openxmlformats.org/officeDocument/2006/relationships/slide" Target="/ppt/slides/slide4.xml" Id="R71ae2066cc474e20" /><Relationship Type="http://schemas.openxmlformats.org/officeDocument/2006/relationships/slide" Target="/ppt/slides/slide5.xml" Id="Rd3015433aca24211" /><Relationship Type="http://schemas.openxmlformats.org/officeDocument/2006/relationships/slide" Target="/ppt/slides/slide6.xml" Id="R66a5df930cd448ad" /><Relationship Type="http://schemas.openxmlformats.org/officeDocument/2006/relationships/slide" Target="/ppt/slides/slide7.xml" Id="R246c6f40b3da4a1b" /><Relationship Type="http://schemas.openxmlformats.org/officeDocument/2006/relationships/slide" Target="/ppt/slides/slide8.xml" Id="Rb87cde13dd1141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a08123ed9f4d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282b6d2fba4cbf" /><Relationship Type="http://schemas.openxmlformats.org/officeDocument/2006/relationships/notesMaster" Target="/ppt/notesMasters/notesMaster1.xml" Id="R351a0c4f2e484e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e917b6d822478e" /><Relationship Type="http://schemas.openxmlformats.org/officeDocument/2006/relationships/notesMaster" Target="/ppt/notesMasters/notesMaster1.xml" Id="R11c3ef86972445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673dfce98e4ac1" /><Relationship Type="http://schemas.openxmlformats.org/officeDocument/2006/relationships/notesMaster" Target="/ppt/notesMasters/notesMaster1.xml" Id="R082b221fecd243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3f91ce8a3541b4" /><Relationship Type="http://schemas.openxmlformats.org/officeDocument/2006/relationships/notesMaster" Target="/ppt/notesMasters/notesMaster1.xml" Id="Rd815a4ff82a74a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b71e858fd043a9" /><Relationship Type="http://schemas.openxmlformats.org/officeDocument/2006/relationships/notesMaster" Target="/ppt/notesMasters/notesMaster1.xml" Id="R22271527aa9a4a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5795f35c04457f" /><Relationship Type="http://schemas.openxmlformats.org/officeDocument/2006/relationships/notesMaster" Target="/ppt/notesMasters/notesMaster1.xml" Id="Recb13a9c913d47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f75fe2a74244fe" /><Relationship Type="http://schemas.openxmlformats.org/officeDocument/2006/relationships/notesMaster" Target="/ppt/notesMasters/notesMaster1.xml" Id="Rc355070cb9c64d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8c1851058c4706" /><Relationship Type="http://schemas.openxmlformats.org/officeDocument/2006/relationships/notesMaster" Target="/ppt/notesMasters/notesMaster1.xml" Id="Re5245287a9714d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本日は、昨年度から引き継いだ溶媒管理システムについて、今年度の中間報告として要件定義の進捗を説明します。中心になる考え方は、記録するシステムから判断を支援するシステムへ進めることです。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背景です。溶媒は単純に何本あるかだけでなく、指定数量という基準に対してどの程度保管しているかを見なければなりません。紙や場所ごとの管理では、全体の状況をすぐに把握することが難しく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昨年度は、紙中心だった管理をWebアプリとして扱えるところまで進みました。使用量の登録や残量確認ができるようになり、技術的にもNext.jsとSupabaseの構成で本番システムが作られています。今年度は、この記録をどう活用していくかが出発点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題は、データが入力されても、それをもとに判断する部分は人に残っていることです。指定数量の確認も、欠品への気づきも、情報共有も、人が確認して初めて動きます。今年度はこの部分をシステム側に寄せることを目標にし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Xとしての位置づけです。昨年度までで紙の記録をデジタルに置き換える段階は進みました。今年度は、そのデータを使ってシステムが判断し、人に通知や見通しを出す段階、つまりデジタライゼーションを中心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進捗としては、実装そのものではなく、実装に入るための要件定義を進めました。機能要件、データ設計、画面設計、画面遷移に分け、既存画面のフローを壊さずに差分として追加する方針にしています。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ア機能は2つです。1つ目は指定数量の常時監視で、入出庫のたびにシステムが合算倍率を判定し、管理者に通知します。2つ目は欠品予測で、出庫履歴から下限割れの予測日を示します。どちらも、人が後から気づくのではなく、システムが先に気づく設計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は、データベースの差分、画面反映、判定ロジック、テストとヒアリングの順で進めます。最終的には、単に便利なアプリではなく、安全管理と在庫判断を継続的に改善できる仕組みにすることを目指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85c6d6f2d840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cff24efdda4288" /><Relationship Type="http://schemas.openxmlformats.org/officeDocument/2006/relationships/slideLayout" Target="/ppt/slideLayouts/slideLayout1.xml" Id="R6df649fad1b846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f649fad1b846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f6efac2e69497f" /><Relationship Type="http://schemas.openxmlformats.org/officeDocument/2006/relationships/notesSlide" Target="/ppt/notesSlides/notesSlide1.xml" Id="R9ac9013a26d04e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9793696c8e4a5c" /><Relationship Type="http://schemas.openxmlformats.org/officeDocument/2006/relationships/notesSlide" Target="/ppt/notesSlides/notesSlide2.xml" Id="R7247b51187f141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35a358f3c44a6c" /><Relationship Type="http://schemas.openxmlformats.org/officeDocument/2006/relationships/image" Target="/ppt/media/image.png" Id="Rc86727e59c4f433e" /><Relationship Type="http://schemas.openxmlformats.org/officeDocument/2006/relationships/image" Target="/ppt/media/image2.png" Id="Ra4b7666da06f437f" /><Relationship Type="http://schemas.openxmlformats.org/officeDocument/2006/relationships/notesSlide" Target="/ppt/notesSlides/notesSlide3.xml" Id="Rd52720ba538048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1918ab67874460" /><Relationship Type="http://schemas.openxmlformats.org/officeDocument/2006/relationships/notesSlide" Target="/ppt/notesSlides/notesSlide4.xml" Id="Rc8839232751141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9c09106b844c12" /><Relationship Type="http://schemas.openxmlformats.org/officeDocument/2006/relationships/notesSlide" Target="/ppt/notesSlides/notesSlide5.xml" Id="R9d1ee852bc1f4c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b80f9e957d46c9" /><Relationship Type="http://schemas.openxmlformats.org/officeDocument/2006/relationships/image" Target="/ppt/media/image3.png" Id="R50599ddeeca04324" /><Relationship Type="http://schemas.openxmlformats.org/officeDocument/2006/relationships/notesSlide" Target="/ppt/notesSlides/notesSlide6.xml" Id="R92d56d3cfa4c40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9f3ffec1b34b68" /><Relationship Type="http://schemas.openxmlformats.org/officeDocument/2006/relationships/chart" Target="/ppt/slides/charts/chart1.xml" Id="Reb59ea077cbc463c" /><Relationship Type="http://schemas.openxmlformats.org/officeDocument/2006/relationships/notesSlide" Target="/ppt/notesSlides/notesSlide7.xml" Id="R91580d587a7a49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8acf91d69e4dc3" /><Relationship Type="http://schemas.openxmlformats.org/officeDocument/2006/relationships/notesSlide" Target="/ppt/notesSlides/notesSlide8.xml" Id="R32e67f76c6794be3" /></Relationships>
</file>

<file path=ppt/slides/charts/chart1.xml><?xml version="1.0" encoding="utf-8"?>
<c:chartSpace xmlns:c="http://schemas.openxmlformats.org/drawingml/2006/chart">
  <c:lang val="en-US"/>
  <c:chart>
    <c:plotArea>
      <c:lineChart>
        <c:grouping val="standard"/>
        <c:ser>
          <c:idx val="0"/>
          <c:order val="0"/>
          <c:tx>
            <c:v>在庫量</c:v>
          </c:tx>
          <c:spPr>
            <a:ln xmlns:a="http://schemas.openxmlformats.org/drawingml/2006/main" w="28575">
              <a:solidFill>
                <a:srgbClr val="2E6B58"/>
              </a:solidFill>
              <a:prstDash val="solid"/>
            </a:ln>
          </c:spPr>
          <c:marker>
            <c:symbol val="circle"/>
            <c:size val="5"/>
          </c:marker>
          <c:dLbls/>
          <c:cat>
            <c:strLit>
              <c:ptCount val="4"/>
              <c:pt idx="0">
                <c:v>現在</c:v>
              </c:pt>
              <c:pt idx="1">
                <c:v>1週後</c:v>
              </c:pt>
              <c:pt idx="2">
                <c:v>2週後</c:v>
              </c:pt>
              <c:pt idx="3">
                <c:v>3週後</c:v>
              </c:pt>
            </c:strLit>
          </c:cat>
          <c:val>
            <c:numLit>
              <c:formatCode>General</c:formatCode>
              <c:ptCount val="4"/>
              <c:pt idx="0">
                <c:v>32</c:v>
              </c:pt>
              <c:pt idx="1">
                <c:v>24</c:v>
              </c:pt>
              <c:pt idx="2">
                <c:v>15</c:v>
              </c:pt>
              <c:pt idx="3">
                <c:v>7</c:v>
              </c:pt>
            </c:numLit>
          </c:val>
          <c:smooth val="0"/>
        </c:ser>
        <c:ser>
          <c:idx val="1"/>
          <c:order val="1"/>
          <c:tx>
            <c:v>下限</c:v>
          </c:tx>
          <c:spPr>
            <a:ln xmlns:a="http://schemas.openxmlformats.org/drawingml/2006/main" w="19050">
              <a:solidFill>
                <a:srgbClr val="D95D5D"/>
              </a:solidFill>
              <a:prstDash val="solid"/>
            </a:ln>
          </c:spPr>
          <c:marker>
            <c:symbol val="none"/>
          </c:marker>
          <c:dLbls/>
          <c:cat>
            <c:strLit>
              <c:ptCount val="4"/>
              <c:pt idx="0">
                <c:v>現在</c:v>
              </c:pt>
              <c:pt idx="1">
                <c:v>1週後</c:v>
              </c:pt>
              <c:pt idx="2">
                <c:v>2週後</c:v>
              </c:pt>
              <c:pt idx="3">
                <c:v>3週後</c:v>
              </c:pt>
            </c:strLit>
          </c:cat>
          <c:val>
            <c:numLit>
              <c:formatCode>General</c:formatCode>
              <c:ptCount val="4"/>
              <c:pt idx="0">
                <c:v>8</c:v>
              </c:pt>
              <c:pt idx="1">
                <c:v>8</c:v>
              </c:pt>
              <c:pt idx="2">
                <c:v>8</c:v>
              </c:pt>
              <c:pt idx="3">
                <c:v>8</c:v>
              </c:pt>
            </c:numLit>
          </c:val>
          <c:smooth val="0"/>
        </c:ser>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B6661"/>
                </a:solidFill>
              </a:defRPr>
            </a:pPr>
          </a:p>
        </c:txPr>
        <c:crossAx val="48672768"/>
        <c:crosses val="autoZero"/>
        <c:lblAlgn val="ctr"/>
        <c:lblOffset val="100"/>
        <c:noMultiLvlLbl val="0"/>
      </c:catAx>
      <c:valAx>
        <c:axId val="48672768"/>
        <c:scaling>
          <c:orientation val="minMax"/>
          <c:max val="36"/>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B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9EE677-FD29-4786-9F29-7CA56679A0E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2E6B58"/>
          </a:solidFill>
          <a:ln xmlns:a="http://schemas.openxmlformats.org/drawingml/2006/main" w="0">
            <a:solidFill>
              <a:srgbClr val="2E6B58"/>
            </a:solidFill>
            <a:prstDash val="solid"/>
          </a:ln>
        </p:spPr>
      </p:sp>
      <p:sp>
        <p:nvSpPr>
          <p:cNvPr id="2" name="">
            <a:extLst xmlns:a="http://schemas.openxmlformats.org/drawingml/2006/main">
              <a:ext uri="{FF2B5EF4-FFF2-40B4-BE49-F238E27FC236}">
                <a16:creationId xmlns:a16="http://schemas.microsoft.com/office/drawing/2014/main" id="{4C2286C2-4F28-40C5-BC6F-A37AF74AFCC6}"/>
              </a:ext>
            </a:extLst>
          </p:cNvPr>
          <p:cNvSpPr>
            <a:spLocks xmlns:a="http://schemas.openxmlformats.org/drawingml/2006/main" noGrp="1"/>
          </p:cNvSpPr>
          <p:nvPr/>
        </p:nvSpPr>
        <p:spPr>
          <a:xfrm xmlns:a="http://schemas.openxmlformats.org/drawingml/2006/main">
            <a:off x="723900" y="8382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2E6B58"/>
                </a:solidFill>
              </a:defRPr>
            </a:pPr>
            <a:r>
              <a:rPr sz="2100" b="1">
                <a:solidFill>
                  <a:srgbClr val="2E6B58"/>
                </a:solidFill>
              </a:rPr>
              <a:t>実験用溶媒管理システム</a:t>
            </a:r>
          </a:p>
        </p:txBody>
      </p:sp>
      <p:sp>
        <p:nvSpPr>
          <p:cNvPr id="3" name="">
            <a:extLst xmlns:a="http://schemas.openxmlformats.org/drawingml/2006/main">
              <a:ext uri="{FF2B5EF4-FFF2-40B4-BE49-F238E27FC236}">
                <a16:creationId xmlns:a16="http://schemas.microsoft.com/office/drawing/2014/main" id="{D8DDC985-E91E-45C8-ACC6-03CDC0D4AFEC}"/>
              </a:ext>
            </a:extLst>
          </p:cNvPr>
          <p:cNvSpPr>
            <a:spLocks xmlns:a="http://schemas.openxmlformats.org/drawingml/2006/main" noGrp="1"/>
          </p:cNvSpPr>
          <p:nvPr/>
        </p:nvSpPr>
        <p:spPr>
          <a:xfrm xmlns:a="http://schemas.openxmlformats.org/drawingml/2006/main">
            <a:off x="685800" y="1504950"/>
            <a:ext cx="685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950" b="1">
                <a:solidFill>
                  <a:srgbClr val="17201C"/>
                </a:solidFill>
              </a:defRPr>
            </a:pPr>
            <a:r>
              <a:rPr sz="4950" b="1">
                <a:solidFill>
                  <a:srgbClr val="17201C"/>
                </a:solidFill>
              </a:rPr>
              <a:t>DX化に向けた</a:t>
            </a:r>
          </a:p>
          <a:p xmlns:a="http://schemas.openxmlformats.org/drawingml/2006/main">
            <a:pPr algn="l">
              <a:defRPr sz="4950" b="1">
                <a:solidFill>
                  <a:srgbClr val="17201C"/>
                </a:solidFill>
              </a:defRPr>
            </a:pPr>
            <a:r>
              <a:rPr sz="4950" b="1">
                <a:solidFill>
                  <a:srgbClr val="17201C"/>
                </a:solidFill>
              </a:rPr>
              <a:t>要件定義</a:t>
            </a:r>
          </a:p>
        </p:txBody>
      </p:sp>
      <p:sp>
        <p:nvSpPr>
          <p:cNvPr id="4" name="">
            <a:extLst xmlns:a="http://schemas.openxmlformats.org/drawingml/2006/main">
              <a:ext uri="{FF2B5EF4-FFF2-40B4-BE49-F238E27FC236}">
                <a16:creationId xmlns:a16="http://schemas.microsoft.com/office/drawing/2014/main" id="{B5BD531B-99F1-4B9A-BD4D-44A7087DDE14}"/>
              </a:ext>
            </a:extLst>
          </p:cNvPr>
          <p:cNvSpPr>
            <a:spLocks xmlns:a="http://schemas.openxmlformats.org/drawingml/2006/main" noGrp="1"/>
          </p:cNvSpPr>
          <p:nvPr/>
        </p:nvSpPr>
        <p:spPr>
          <a:xfrm xmlns:a="http://schemas.openxmlformats.org/drawingml/2006/main">
            <a:off x="723900" y="37338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B6661"/>
                </a:solidFill>
              </a:defRPr>
            </a:pPr>
            <a:r>
              <a:rPr sz="1575" b="0">
                <a:solidFill>
                  <a:srgbClr val="5B6661"/>
                </a:solidFill>
              </a:rPr>
              <a:t>中間報告 / 2026年度 DXプロジェクト</a:t>
            </a:r>
          </a:p>
        </p:txBody>
      </p:sp>
      <p:sp>
        <p:nvSpPr>
          <p:cNvPr id="5" name="">
            <a:extLst xmlns:a="http://schemas.openxmlformats.org/drawingml/2006/main">
              <a:ext uri="{FF2B5EF4-FFF2-40B4-BE49-F238E27FC236}">
                <a16:creationId xmlns:a16="http://schemas.microsoft.com/office/drawing/2014/main" id="{FFC1C8E8-E690-45FB-B0A5-8F9DBE1E8555}"/>
              </a:ext>
            </a:extLst>
          </p:cNvPr>
          <p:cNvSpPr>
            <a:spLocks xmlns:a="http://schemas.openxmlformats.org/drawingml/2006/main" noGrp="1"/>
          </p:cNvSpPr>
          <p:nvPr/>
        </p:nvSpPr>
        <p:spPr>
          <a:xfrm xmlns:a="http://schemas.openxmlformats.org/drawingml/2006/main">
            <a:off x="7524750" y="1066800"/>
            <a:ext cx="3143250" cy="434340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B5D8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5D1F284-318F-4FD8-9A5E-8F0FA8B71E81}"/>
              </a:ext>
            </a:extLst>
          </p:cNvPr>
          <p:cNvSpPr>
            <a:spLocks xmlns:a="http://schemas.openxmlformats.org/drawingml/2006/main" noGrp="1"/>
          </p:cNvSpPr>
          <p:nvPr/>
        </p:nvSpPr>
        <p:spPr>
          <a:xfrm xmlns:a="http://schemas.openxmlformats.org/drawingml/2006/main">
            <a:off x="8496300" y="1619250"/>
            <a:ext cx="1219200" cy="2514600"/>
          </a:xfrm>
          <a:prstGeom xmlns:a="http://schemas.openxmlformats.org/drawingml/2006/main" prst="roundRect">
            <a:avLst>
              <a:gd name="adj" fmla="val 6250"/>
            </a:avLst>
          </a:prstGeom>
          <a:solidFill xmlns:a="http://schemas.openxmlformats.org/drawingml/2006/main">
            <a:srgbClr val="E8F6F0"/>
          </a:solidFill>
          <a:ln xmlns:a="http://schemas.openxmlformats.org/drawingml/2006/main" w="9525">
            <a:solidFill>
              <a:srgbClr val="A9DCCF"/>
            </a:solidFill>
            <a:prstDash val="solid"/>
          </a:ln>
        </p:spPr>
      </p:sp>
      <p:sp>
        <p:nvSpPr>
          <p:cNvPr id="7" name="">
            <a:extLst xmlns:a="http://schemas.openxmlformats.org/drawingml/2006/main">
              <a:ext uri="{FF2B5EF4-FFF2-40B4-BE49-F238E27FC236}">
                <a16:creationId xmlns:a16="http://schemas.microsoft.com/office/drawing/2014/main" id="{43DF5FFE-4D4C-4735-9577-1A4170222EED}"/>
              </a:ext>
            </a:extLst>
          </p:cNvPr>
          <p:cNvSpPr>
            <a:spLocks xmlns:a="http://schemas.openxmlformats.org/drawingml/2006/main" noGrp="1"/>
          </p:cNvSpPr>
          <p:nvPr/>
        </p:nvSpPr>
        <p:spPr>
          <a:xfrm xmlns:a="http://schemas.openxmlformats.org/drawingml/2006/main">
            <a:off x="8496300" y="1943100"/>
            <a:ext cx="1219200" cy="9525"/>
          </a:xfrm>
          <a:prstGeom xmlns:a="http://schemas.openxmlformats.org/drawingml/2006/main" prst="rect">
            <a:avLst/>
          </a:prstGeom>
          <a:solidFill xmlns:a="http://schemas.openxmlformats.org/drawingml/2006/main">
            <a:srgbClr val="78BCA8"/>
          </a:solidFill>
          <a:ln xmlns:a="http://schemas.openxmlformats.org/drawingml/2006/main" w="0">
            <a:solidFill>
              <a:srgbClr val="78BCA8"/>
            </a:solidFill>
            <a:prstDash val="solid"/>
          </a:ln>
        </p:spPr>
      </p:sp>
      <p:sp>
        <p:nvSpPr>
          <p:cNvPr id="8" name="">
            <a:extLst xmlns:a="http://schemas.openxmlformats.org/drawingml/2006/main">
              <a:ext uri="{FF2B5EF4-FFF2-40B4-BE49-F238E27FC236}">
                <a16:creationId xmlns:a16="http://schemas.microsoft.com/office/drawing/2014/main" id="{5C8F9EFB-6605-49D2-9DD7-2465264AF054}"/>
              </a:ext>
            </a:extLst>
          </p:cNvPr>
          <p:cNvSpPr>
            <a:spLocks xmlns:a="http://schemas.openxmlformats.org/drawingml/2006/main" noGrp="1"/>
          </p:cNvSpPr>
          <p:nvPr/>
        </p:nvSpPr>
        <p:spPr>
          <a:xfrm xmlns:a="http://schemas.openxmlformats.org/drawingml/2006/main">
            <a:off x="8629650" y="17526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201C"/>
                </a:solidFill>
              </a:defRPr>
            </a:pPr>
            <a:r>
              <a:rPr sz="1050" b="1">
                <a:solidFill>
                  <a:srgbClr val="17201C"/>
                </a:solidFill>
              </a:rPr>
              <a:t>ホーム</a:t>
            </a:r>
          </a:p>
        </p:txBody>
      </p:sp>
      <p:sp>
        <p:nvSpPr>
          <p:cNvPr id="9" name="">
            <a:extLst xmlns:a="http://schemas.openxmlformats.org/drawingml/2006/main">
              <a:ext uri="{FF2B5EF4-FFF2-40B4-BE49-F238E27FC236}">
                <a16:creationId xmlns:a16="http://schemas.microsoft.com/office/drawing/2014/main" id="{067D13D6-83FE-4FDA-8109-B6C91EBA57A9}"/>
              </a:ext>
            </a:extLst>
          </p:cNvPr>
          <p:cNvSpPr>
            <a:spLocks xmlns:a="http://schemas.openxmlformats.org/drawingml/2006/main" noGrp="1"/>
          </p:cNvSpPr>
          <p:nvPr/>
        </p:nvSpPr>
        <p:spPr>
          <a:xfrm xmlns:a="http://schemas.openxmlformats.org/drawingml/2006/main">
            <a:off x="8648700" y="2286000"/>
            <a:ext cx="914400" cy="257175"/>
          </a:xfrm>
          <a:prstGeom xmlns:a="http://schemas.openxmlformats.org/drawingml/2006/main" prst="roundRect">
            <a:avLst>
              <a:gd name="adj" fmla="val 7407"/>
            </a:avLst>
          </a:prstGeom>
          <a:solidFill xmlns:a="http://schemas.openxmlformats.org/drawingml/2006/main">
            <a:srgbClr val="2E6B58"/>
          </a:solidFill>
          <a:ln xmlns:a="http://schemas.openxmlformats.org/drawingml/2006/main" w="9525">
            <a:solidFill>
              <a:srgbClr val="2E6B58"/>
            </a:solidFill>
            <a:prstDash val="solid"/>
          </a:ln>
        </p:spPr>
      </p:sp>
      <p:sp>
        <p:nvSpPr>
          <p:cNvPr id="10" name="">
            <a:extLst xmlns:a="http://schemas.openxmlformats.org/drawingml/2006/main">
              <a:ext uri="{FF2B5EF4-FFF2-40B4-BE49-F238E27FC236}">
                <a16:creationId xmlns:a16="http://schemas.microsoft.com/office/drawing/2014/main" id="{74BFA2B2-3502-4D47-8160-9DBB0A8BA4D9}"/>
              </a:ext>
            </a:extLst>
          </p:cNvPr>
          <p:cNvSpPr>
            <a:spLocks xmlns:a="http://schemas.openxmlformats.org/drawingml/2006/main" noGrp="1"/>
          </p:cNvSpPr>
          <p:nvPr/>
        </p:nvSpPr>
        <p:spPr>
          <a:xfrm xmlns:a="http://schemas.openxmlformats.org/drawingml/2006/main">
            <a:off x="8686800" y="2343150"/>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38" b="1">
                <a:solidFill>
                  <a:srgbClr val="FFFFFF"/>
                </a:solidFill>
              </a:defRPr>
            </a:pPr>
            <a:r>
              <a:rPr sz="638" b="1">
                <a:solidFill>
                  <a:srgbClr val="FFFFFF"/>
                </a:solidFill>
              </a:rPr>
              <a:t>溶媒の登録・使用</a:t>
            </a:r>
          </a:p>
        </p:txBody>
      </p:sp>
      <p:sp>
        <p:nvSpPr>
          <p:cNvPr id="11" name="">
            <a:extLst xmlns:a="http://schemas.openxmlformats.org/drawingml/2006/main">
              <a:ext uri="{FF2B5EF4-FFF2-40B4-BE49-F238E27FC236}">
                <a16:creationId xmlns:a16="http://schemas.microsoft.com/office/drawing/2014/main" id="{2AA04745-19AD-43FC-AFF5-4970CA31F7DA}"/>
              </a:ext>
            </a:extLst>
          </p:cNvPr>
          <p:cNvSpPr>
            <a:spLocks xmlns:a="http://schemas.openxmlformats.org/drawingml/2006/main" noGrp="1"/>
          </p:cNvSpPr>
          <p:nvPr/>
        </p:nvSpPr>
        <p:spPr>
          <a:xfrm xmlns:a="http://schemas.openxmlformats.org/drawingml/2006/main">
            <a:off x="8648700" y="2686050"/>
            <a:ext cx="914400" cy="2571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BCD4CA"/>
            </a:solidFill>
            <a:prstDash val="solid"/>
          </a:ln>
        </p:spPr>
      </p:sp>
      <p:sp>
        <p:nvSpPr>
          <p:cNvPr id="12" name="">
            <a:extLst xmlns:a="http://schemas.openxmlformats.org/drawingml/2006/main">
              <a:ext uri="{FF2B5EF4-FFF2-40B4-BE49-F238E27FC236}">
                <a16:creationId xmlns:a16="http://schemas.microsoft.com/office/drawing/2014/main" id="{8BFBDD50-AD62-44EE-A19A-179163F0F394}"/>
              </a:ext>
            </a:extLst>
          </p:cNvPr>
          <p:cNvSpPr>
            <a:spLocks xmlns:a="http://schemas.openxmlformats.org/drawingml/2006/main" noGrp="1"/>
          </p:cNvSpPr>
          <p:nvPr/>
        </p:nvSpPr>
        <p:spPr>
          <a:xfrm xmlns:a="http://schemas.openxmlformats.org/drawingml/2006/main">
            <a:off x="8686800" y="2743200"/>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38" b="0">
                <a:solidFill>
                  <a:srgbClr val="17201C"/>
                </a:solidFill>
              </a:defRPr>
            </a:pPr>
            <a:r>
              <a:rPr sz="638" b="0">
                <a:solidFill>
                  <a:srgbClr val="17201C"/>
                </a:solidFill>
              </a:rPr>
              <a:t>溶媒の在庫閲覧</a:t>
            </a:r>
          </a:p>
        </p:txBody>
      </p:sp>
      <p:sp>
        <p:nvSpPr>
          <p:cNvPr id="13" name="">
            <a:extLst xmlns:a="http://schemas.openxmlformats.org/drawingml/2006/main">
              <a:ext uri="{FF2B5EF4-FFF2-40B4-BE49-F238E27FC236}">
                <a16:creationId xmlns:a16="http://schemas.microsoft.com/office/drawing/2014/main" id="{7D7D08CF-78C2-418A-AAE6-3BDEBBBDE10A}"/>
              </a:ext>
            </a:extLst>
          </p:cNvPr>
          <p:cNvSpPr>
            <a:spLocks xmlns:a="http://schemas.openxmlformats.org/drawingml/2006/main" noGrp="1"/>
          </p:cNvSpPr>
          <p:nvPr/>
        </p:nvSpPr>
        <p:spPr>
          <a:xfrm xmlns:a="http://schemas.openxmlformats.org/drawingml/2006/main">
            <a:off x="8648700" y="3086100"/>
            <a:ext cx="914400" cy="2571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BCD4CA"/>
            </a:solidFill>
            <a:prstDash val="solid"/>
          </a:ln>
        </p:spPr>
      </p:sp>
      <p:sp>
        <p:nvSpPr>
          <p:cNvPr id="14" name="">
            <a:extLst xmlns:a="http://schemas.openxmlformats.org/drawingml/2006/main">
              <a:ext uri="{FF2B5EF4-FFF2-40B4-BE49-F238E27FC236}">
                <a16:creationId xmlns:a16="http://schemas.microsoft.com/office/drawing/2014/main" id="{22E08286-5138-4F07-9CFB-F910884DAC86}"/>
              </a:ext>
            </a:extLst>
          </p:cNvPr>
          <p:cNvSpPr>
            <a:spLocks xmlns:a="http://schemas.openxmlformats.org/drawingml/2006/main" noGrp="1"/>
          </p:cNvSpPr>
          <p:nvPr/>
        </p:nvSpPr>
        <p:spPr>
          <a:xfrm xmlns:a="http://schemas.openxmlformats.org/drawingml/2006/main">
            <a:off x="8686800" y="3143250"/>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38" b="0">
                <a:solidFill>
                  <a:srgbClr val="17201C"/>
                </a:solidFill>
              </a:defRPr>
            </a:pPr>
            <a:r>
              <a:rPr sz="638" b="0">
                <a:solidFill>
                  <a:srgbClr val="17201C"/>
                </a:solidFill>
              </a:rPr>
              <a:t>在庫のお知らせ</a:t>
            </a:r>
          </a:p>
        </p:txBody>
      </p:sp>
      <p:sp>
        <p:nvSpPr>
          <p:cNvPr id="15" name="">
            <a:extLst xmlns:a="http://schemas.openxmlformats.org/drawingml/2006/main">
              <a:ext uri="{FF2B5EF4-FFF2-40B4-BE49-F238E27FC236}">
                <a16:creationId xmlns:a16="http://schemas.microsoft.com/office/drawing/2014/main" id="{B817194D-4167-4BFD-B848-4F605AF092BF}"/>
              </a:ext>
            </a:extLst>
          </p:cNvPr>
          <p:cNvSpPr>
            <a:spLocks xmlns:a="http://schemas.openxmlformats.org/drawingml/2006/main" noGrp="1"/>
          </p:cNvSpPr>
          <p:nvPr/>
        </p:nvSpPr>
        <p:spPr>
          <a:xfrm xmlns:a="http://schemas.openxmlformats.org/drawingml/2006/main">
            <a:off x="8058150" y="4572000"/>
            <a:ext cx="2095500" cy="323850"/>
          </a:xfrm>
          <a:prstGeom xmlns:a="http://schemas.openxmlformats.org/drawingml/2006/main" prst="roundRect">
            <a:avLst>
              <a:gd name="adj" fmla="val 50000"/>
            </a:avLst>
          </a:prstGeom>
          <a:solidFill xmlns:a="http://schemas.openxmlformats.org/drawingml/2006/main">
            <a:srgbClr val="2E6B58"/>
          </a:solidFill>
          <a:ln xmlns:a="http://schemas.openxmlformats.org/drawingml/2006/main" w="9525">
            <a:solidFill>
              <a:srgbClr val="B7D9CD"/>
            </a:solidFill>
            <a:prstDash val="solid"/>
          </a:ln>
        </p:spPr>
      </p:sp>
      <p:sp>
        <p:nvSpPr>
          <p:cNvPr id="16" name="">
            <a:extLst xmlns:a="http://schemas.openxmlformats.org/drawingml/2006/main">
              <a:ext uri="{FF2B5EF4-FFF2-40B4-BE49-F238E27FC236}">
                <a16:creationId xmlns:a16="http://schemas.microsoft.com/office/drawing/2014/main" id="{57981DCB-BA06-4519-8E03-B3264067F0D3}"/>
              </a:ext>
            </a:extLst>
          </p:cNvPr>
          <p:cNvSpPr>
            <a:spLocks xmlns:a="http://schemas.openxmlformats.org/drawingml/2006/main" noGrp="1"/>
          </p:cNvSpPr>
          <p:nvPr/>
        </p:nvSpPr>
        <p:spPr>
          <a:xfrm xmlns:a="http://schemas.openxmlformats.org/drawingml/2006/main">
            <a:off x="8210550" y="462915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記録から判断支援へ</a:t>
            </a:r>
          </a:p>
        </p:txBody>
      </p:sp>
      <p:sp>
        <p:nvSpPr>
          <p:cNvPr id="17" name="">
            <a:extLst xmlns:a="http://schemas.openxmlformats.org/drawingml/2006/main">
              <a:ext uri="{FF2B5EF4-FFF2-40B4-BE49-F238E27FC236}">
                <a16:creationId xmlns:a16="http://schemas.microsoft.com/office/drawing/2014/main" id="{65D873EF-5613-40D7-8678-DC25DE7CD5E2}"/>
              </a:ext>
            </a:extLst>
          </p:cNvPr>
          <p:cNvSpPr>
            <a:spLocks xmlns:a="http://schemas.openxmlformats.org/drawingml/2006/main" noGrp="1"/>
          </p:cNvSpPr>
          <p:nvPr/>
        </p:nvSpPr>
        <p:spPr>
          <a:xfrm xmlns:a="http://schemas.openxmlformats.org/drawingml/2006/main">
            <a:off x="723900" y="57912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7201C"/>
                </a:solidFill>
              </a:defRPr>
            </a:pPr>
            <a:r>
              <a:rPr sz="1350" b="1">
                <a:solidFill>
                  <a:srgbClr val="17201C"/>
                </a:solidFill>
              </a:rPr>
              <a:t>ChemStock開発チーム</a:t>
            </a:r>
          </a:p>
        </p:txBody>
      </p:sp>
      <p:sp>
        <p:nvSpPr>
          <p:cNvPr id="18" name="">
            <a:extLst xmlns:a="http://schemas.openxmlformats.org/drawingml/2006/main">
              <a:ext uri="{FF2B5EF4-FFF2-40B4-BE49-F238E27FC236}">
                <a16:creationId xmlns:a16="http://schemas.microsoft.com/office/drawing/2014/main" id="{0B7981BA-191B-4168-AAC1-9182B1A21B9C}"/>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01</a:t>
            </a:r>
          </a:p>
        </p:txBody>
      </p:sp>
      <p:sp>
        <p:nvSpPr>
          <p:cNvPr id="19" name="">
            <a:extLst xmlns:a="http://schemas.openxmlformats.org/drawingml/2006/main">
              <a:ext uri="{FF2B5EF4-FFF2-40B4-BE49-F238E27FC236}">
                <a16:creationId xmlns:a16="http://schemas.microsoft.com/office/drawing/2014/main" id="{437030E5-F1AA-4773-B72D-6C29967DF20D}"/>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5083583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52DCB3-0025-49C6-A243-9BF741590072}"/>
              </a:ext>
            </a:extLst>
          </p:cNvPr>
          <p:cNvSpPr>
            <a:spLocks xmlns:a="http://schemas.openxmlformats.org/drawingml/2006/main" noGrp="1"/>
          </p:cNvSpPr>
          <p:nvPr/>
        </p:nvSpPr>
        <p:spPr>
          <a:xfrm xmlns:a="http://schemas.openxmlformats.org/drawingml/2006/main">
            <a:off x="68580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背景</a:t>
            </a:r>
          </a:p>
        </p:txBody>
      </p:sp>
      <p:sp>
        <p:nvSpPr>
          <p:cNvPr id="2" name="">
            <a:extLst xmlns:a="http://schemas.openxmlformats.org/drawingml/2006/main">
              <a:ext uri="{FF2B5EF4-FFF2-40B4-BE49-F238E27FC236}">
                <a16:creationId xmlns:a16="http://schemas.microsoft.com/office/drawing/2014/main" id="{EB99E82B-BFDA-40A5-A757-8AD2435E10BA}"/>
              </a:ext>
            </a:extLst>
          </p:cNvPr>
          <p:cNvSpPr>
            <a:spLocks xmlns:a="http://schemas.openxmlformats.org/drawingml/2006/main" noGrp="1"/>
          </p:cNvSpPr>
          <p:nvPr/>
        </p:nvSpPr>
        <p:spPr>
          <a:xfrm xmlns:a="http://schemas.openxmlformats.org/drawingml/2006/main">
            <a:off x="685800" y="7239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01C"/>
                </a:solidFill>
              </a:defRPr>
            </a:pPr>
            <a:r>
              <a:rPr sz="2700" b="1">
                <a:solidFill>
                  <a:srgbClr val="17201C"/>
                </a:solidFill>
              </a:rPr>
              <a:t>溶媒管理では、場所ごとの総量把握が欠かせない</a:t>
            </a:r>
          </a:p>
        </p:txBody>
      </p:sp>
      <p:sp>
        <p:nvSpPr>
          <p:cNvPr id="3" name="">
            <a:extLst xmlns:a="http://schemas.openxmlformats.org/drawingml/2006/main">
              <a:ext uri="{FF2B5EF4-FFF2-40B4-BE49-F238E27FC236}">
                <a16:creationId xmlns:a16="http://schemas.microsoft.com/office/drawing/2014/main" id="{0422BA6E-329F-48A4-9CAF-C35A93927FC0}"/>
              </a:ext>
            </a:extLst>
          </p:cNvPr>
          <p:cNvSpPr>
            <a:spLocks xmlns:a="http://schemas.openxmlformats.org/drawingml/2006/main" noGrp="1"/>
          </p:cNvSpPr>
          <p:nvPr/>
        </p:nvSpPr>
        <p:spPr>
          <a:xfrm xmlns:a="http://schemas.openxmlformats.org/drawingml/2006/main">
            <a:off x="723900" y="1485900"/>
            <a:ext cx="5905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B6661"/>
                </a:solidFill>
              </a:defRPr>
            </a:pPr>
            <a:r>
              <a:rPr sz="1650" b="0">
                <a:solidFill>
                  <a:srgbClr val="5B6661"/>
                </a:solidFill>
              </a:rPr>
              <a:t>消防法上の危険物にあたる溶媒は、種類ごとの指定数量を基準に管理する必要がある。複数の溶媒を同じ場所で扱う場合は、物質ごとの倍数を合算して見る。</a:t>
            </a:r>
          </a:p>
        </p:txBody>
      </p:sp>
      <p:sp>
        <p:nvSpPr>
          <p:cNvPr id="4" name="">
            <a:extLst xmlns:a="http://schemas.openxmlformats.org/drawingml/2006/main">
              <a:ext uri="{FF2B5EF4-FFF2-40B4-BE49-F238E27FC236}">
                <a16:creationId xmlns:a16="http://schemas.microsoft.com/office/drawing/2014/main" id="{8EB47111-EA72-4FA4-8429-51DDFE36F919}"/>
              </a:ext>
            </a:extLst>
          </p:cNvPr>
          <p:cNvSpPr>
            <a:spLocks xmlns:a="http://schemas.openxmlformats.org/drawingml/2006/main" noGrp="1"/>
          </p:cNvSpPr>
          <p:nvPr/>
        </p:nvSpPr>
        <p:spPr>
          <a:xfrm xmlns:a="http://schemas.openxmlformats.org/drawingml/2006/main">
            <a:off x="7067550" y="1428750"/>
            <a:ext cx="3790950" cy="2571750"/>
          </a:xfrm>
          <a:prstGeom xmlns:a="http://schemas.openxmlformats.org/drawingml/2006/main" prst="roundRect">
            <a:avLst>
              <a:gd name="adj" fmla="val 4444"/>
            </a:avLst>
          </a:prstGeom>
          <a:solidFill xmlns:a="http://schemas.openxmlformats.org/drawingml/2006/main">
            <a:srgbClr val="F4FBF7"/>
          </a:solidFill>
          <a:ln xmlns:a="http://schemas.openxmlformats.org/drawingml/2006/main" w="9525">
            <a:solidFill>
              <a:srgbClr val="BFE0D5"/>
            </a:solidFill>
            <a:prstDash val="solid"/>
          </a:ln>
        </p:spPr>
      </p:sp>
      <p:sp>
        <p:nvSpPr>
          <p:cNvPr id="5" name="">
            <a:extLst xmlns:a="http://schemas.openxmlformats.org/drawingml/2006/main">
              <a:ext uri="{FF2B5EF4-FFF2-40B4-BE49-F238E27FC236}">
                <a16:creationId xmlns:a16="http://schemas.microsoft.com/office/drawing/2014/main" id="{DB3C9342-AB79-4F9F-9588-F2BAD9D8A1B9}"/>
              </a:ext>
            </a:extLst>
          </p:cNvPr>
          <p:cNvSpPr>
            <a:spLocks xmlns:a="http://schemas.openxmlformats.org/drawingml/2006/main" noGrp="1"/>
          </p:cNvSpPr>
          <p:nvPr/>
        </p:nvSpPr>
        <p:spPr>
          <a:xfrm xmlns:a="http://schemas.openxmlformats.org/drawingml/2006/main">
            <a:off x="741045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E6B58"/>
                </a:solidFill>
              </a:defRPr>
            </a:pPr>
            <a:r>
              <a:rPr sz="1800" b="1">
                <a:solidFill>
                  <a:srgbClr val="2E6B58"/>
                </a:solidFill>
              </a:rPr>
              <a:t>指定数量の考え方</a:t>
            </a:r>
          </a:p>
        </p:txBody>
      </p:sp>
      <p:sp>
        <p:nvSpPr>
          <p:cNvPr id="6" name="">
            <a:extLst xmlns:a="http://schemas.openxmlformats.org/drawingml/2006/main">
              <a:ext uri="{FF2B5EF4-FFF2-40B4-BE49-F238E27FC236}">
                <a16:creationId xmlns:a16="http://schemas.microsoft.com/office/drawing/2014/main" id="{55F7A16A-EF76-4721-A6CE-1E3BE3335EEE}"/>
              </a:ext>
            </a:extLst>
          </p:cNvPr>
          <p:cNvSpPr>
            <a:spLocks xmlns:a="http://schemas.openxmlformats.org/drawingml/2006/main" noGrp="1"/>
          </p:cNvSpPr>
          <p:nvPr/>
        </p:nvSpPr>
        <p:spPr>
          <a:xfrm xmlns:a="http://schemas.openxmlformats.org/drawingml/2006/main">
            <a:off x="7639050" y="236220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7201C"/>
                </a:solidFill>
              </a:defRPr>
            </a:pPr>
            <a:r>
              <a:rPr sz="1800" b="1">
                <a:solidFill>
                  <a:srgbClr val="17201C"/>
                </a:solidFill>
              </a:rPr>
              <a:t>在庫量</a:t>
            </a:r>
          </a:p>
        </p:txBody>
      </p:sp>
      <p:sp>
        <p:nvSpPr>
          <p:cNvPr id="7" name="">
            <a:extLst xmlns:a="http://schemas.openxmlformats.org/drawingml/2006/main">
              <a:ext uri="{FF2B5EF4-FFF2-40B4-BE49-F238E27FC236}">
                <a16:creationId xmlns:a16="http://schemas.microsoft.com/office/drawing/2014/main" id="{0B652741-07A6-4468-A45C-C47C3ED4039F}"/>
              </a:ext>
            </a:extLst>
          </p:cNvPr>
          <p:cNvSpPr>
            <a:spLocks xmlns:a="http://schemas.openxmlformats.org/drawingml/2006/main" noGrp="1"/>
          </p:cNvSpPr>
          <p:nvPr/>
        </p:nvSpPr>
        <p:spPr>
          <a:xfrm xmlns:a="http://schemas.openxmlformats.org/drawingml/2006/main">
            <a:off x="7467600" y="2781300"/>
            <a:ext cx="1428750" cy="0"/>
          </a:xfrm>
          <a:prstGeom xmlns:a="http://schemas.openxmlformats.org/drawingml/2006/main" prst="line">
            <a:avLst/>
          </a:prstGeom>
          <a:noFill xmlns:a="http://schemas.openxmlformats.org/drawingml/2006/main"/>
          <a:ln xmlns:a="http://schemas.openxmlformats.org/drawingml/2006/main" w="19050">
            <a:solidFill>
              <a:srgbClr val="17201C"/>
            </a:solidFill>
            <a:prstDash val="solid"/>
          </a:ln>
        </p:spPr>
      </p:sp>
      <p:sp>
        <p:nvSpPr>
          <p:cNvPr id="8" name="">
            <a:extLst xmlns:a="http://schemas.openxmlformats.org/drawingml/2006/main">
              <a:ext uri="{FF2B5EF4-FFF2-40B4-BE49-F238E27FC236}">
                <a16:creationId xmlns:a16="http://schemas.microsoft.com/office/drawing/2014/main" id="{0239CF3B-FCB9-478D-B85A-AA3C04AA459F}"/>
              </a:ext>
            </a:extLst>
          </p:cNvPr>
          <p:cNvSpPr>
            <a:spLocks xmlns:a="http://schemas.openxmlformats.org/drawingml/2006/main" noGrp="1"/>
          </p:cNvSpPr>
          <p:nvPr/>
        </p:nvSpPr>
        <p:spPr>
          <a:xfrm xmlns:a="http://schemas.openxmlformats.org/drawingml/2006/main">
            <a:off x="7639050" y="29527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7201C"/>
                </a:solidFill>
              </a:defRPr>
            </a:pPr>
            <a:r>
              <a:rPr sz="1800" b="1">
                <a:solidFill>
                  <a:srgbClr val="17201C"/>
                </a:solidFill>
              </a:rPr>
              <a:t>指定数量</a:t>
            </a:r>
          </a:p>
        </p:txBody>
      </p:sp>
      <p:sp>
        <p:nvSpPr>
          <p:cNvPr id="9" name="">
            <a:extLst xmlns:a="http://schemas.openxmlformats.org/drawingml/2006/main">
              <a:ext uri="{FF2B5EF4-FFF2-40B4-BE49-F238E27FC236}">
                <a16:creationId xmlns:a16="http://schemas.microsoft.com/office/drawing/2014/main" id="{6BBF03D1-5917-4D5F-AD1E-E9F1CB9E8F1D}"/>
              </a:ext>
            </a:extLst>
          </p:cNvPr>
          <p:cNvSpPr>
            <a:spLocks xmlns:a="http://schemas.openxmlformats.org/drawingml/2006/main" noGrp="1"/>
          </p:cNvSpPr>
          <p:nvPr/>
        </p:nvSpPr>
        <p:spPr>
          <a:xfrm xmlns:a="http://schemas.openxmlformats.org/drawingml/2006/main">
            <a:off x="9048750" y="2619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661"/>
                </a:solidFill>
              </a:defRPr>
            </a:pPr>
            <a:r>
              <a:rPr sz="1275" b="0">
                <a:solidFill>
                  <a:srgbClr val="5B6661"/>
                </a:solidFill>
              </a:rPr>
              <a:t>を溶媒ごとに計算</a:t>
            </a:r>
          </a:p>
        </p:txBody>
      </p:sp>
      <p:sp>
        <p:nvSpPr>
          <p:cNvPr id="10" name="">
            <a:extLst xmlns:a="http://schemas.openxmlformats.org/drawingml/2006/main">
              <a:ext uri="{FF2B5EF4-FFF2-40B4-BE49-F238E27FC236}">
                <a16:creationId xmlns:a16="http://schemas.microsoft.com/office/drawing/2014/main" id="{52018864-3029-48AD-BBBD-F22096F441E2}"/>
              </a:ext>
            </a:extLst>
          </p:cNvPr>
          <p:cNvSpPr>
            <a:spLocks xmlns:a="http://schemas.openxmlformats.org/drawingml/2006/main" noGrp="1"/>
          </p:cNvSpPr>
          <p:nvPr/>
        </p:nvSpPr>
        <p:spPr>
          <a:xfrm xmlns:a="http://schemas.openxmlformats.org/drawingml/2006/main">
            <a:off x="7429500" y="34861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E6B58"/>
                </a:solidFill>
              </a:defRPr>
            </a:pPr>
            <a:r>
              <a:rPr sz="2025" b="1">
                <a:solidFill>
                  <a:srgbClr val="2E6B58"/>
                </a:solidFill>
              </a:rPr>
              <a:t>合算倍率 = Σ</a:t>
            </a:r>
          </a:p>
        </p:txBody>
      </p:sp>
      <p:sp>
        <p:nvSpPr>
          <p:cNvPr id="11" name="">
            <a:extLst xmlns:a="http://schemas.openxmlformats.org/drawingml/2006/main">
              <a:ext uri="{FF2B5EF4-FFF2-40B4-BE49-F238E27FC236}">
                <a16:creationId xmlns:a16="http://schemas.microsoft.com/office/drawing/2014/main" id="{1FA42876-8478-4649-B725-0588BA8ACBD3}"/>
              </a:ext>
            </a:extLst>
          </p:cNvPr>
          <p:cNvSpPr>
            <a:spLocks xmlns:a="http://schemas.openxmlformats.org/drawingml/2006/main" noGrp="1"/>
          </p:cNvSpPr>
          <p:nvPr/>
        </p:nvSpPr>
        <p:spPr>
          <a:xfrm xmlns:a="http://schemas.openxmlformats.org/drawingml/2006/main">
            <a:off x="800100" y="3086100"/>
            <a:ext cx="114300" cy="114300"/>
          </a:xfrm>
          <a:prstGeom xmlns:a="http://schemas.openxmlformats.org/drawingml/2006/main" prst="ellipse">
            <a:avLst/>
          </a:prstGeom>
          <a:solidFill xmlns:a="http://schemas.openxmlformats.org/drawingml/2006/main">
            <a:srgbClr val="2E6B58"/>
          </a:solidFill>
          <a:ln xmlns:a="http://schemas.openxmlformats.org/drawingml/2006/main" w="0">
            <a:solidFill>
              <a:srgbClr val="2E6B58"/>
            </a:solidFill>
            <a:prstDash val="solid"/>
          </a:ln>
        </p:spPr>
      </p:sp>
      <p:sp>
        <p:nvSpPr>
          <p:cNvPr id="12" name="">
            <a:extLst xmlns:a="http://schemas.openxmlformats.org/drawingml/2006/main">
              <a:ext uri="{FF2B5EF4-FFF2-40B4-BE49-F238E27FC236}">
                <a16:creationId xmlns:a16="http://schemas.microsoft.com/office/drawing/2014/main" id="{50F89738-1695-404E-A518-B1CECADE99F0}"/>
              </a:ext>
            </a:extLst>
          </p:cNvPr>
          <p:cNvSpPr>
            <a:spLocks xmlns:a="http://schemas.openxmlformats.org/drawingml/2006/main" noGrp="1"/>
          </p:cNvSpPr>
          <p:nvPr/>
        </p:nvSpPr>
        <p:spPr>
          <a:xfrm xmlns:a="http://schemas.openxmlformats.org/drawingml/2006/main">
            <a:off x="1066800" y="3009900"/>
            <a:ext cx="5543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01C"/>
                </a:solidFill>
              </a:defRPr>
            </a:pPr>
            <a:r>
              <a:rPr sz="1575" b="0">
                <a:solidFill>
                  <a:srgbClr val="17201C"/>
                </a:solidFill>
              </a:rPr>
              <a:t>紙の記録では、現在量を横断的に確認しにくい</a:t>
            </a:r>
          </a:p>
        </p:txBody>
      </p:sp>
      <p:sp>
        <p:nvSpPr>
          <p:cNvPr id="13" name="">
            <a:extLst xmlns:a="http://schemas.openxmlformats.org/drawingml/2006/main">
              <a:ext uri="{FF2B5EF4-FFF2-40B4-BE49-F238E27FC236}">
                <a16:creationId xmlns:a16="http://schemas.microsoft.com/office/drawing/2014/main" id="{7E9AC7D2-07BF-4124-8A6A-E085DCAF4ACE}"/>
              </a:ext>
            </a:extLst>
          </p:cNvPr>
          <p:cNvSpPr>
            <a:spLocks xmlns:a="http://schemas.openxmlformats.org/drawingml/2006/main" noGrp="1"/>
          </p:cNvSpPr>
          <p:nvPr/>
        </p:nvSpPr>
        <p:spPr>
          <a:xfrm xmlns:a="http://schemas.openxmlformats.org/drawingml/2006/main">
            <a:off x="800100" y="3619500"/>
            <a:ext cx="114300" cy="114300"/>
          </a:xfrm>
          <a:prstGeom xmlns:a="http://schemas.openxmlformats.org/drawingml/2006/main" prst="ellipse">
            <a:avLst/>
          </a:prstGeom>
          <a:solidFill xmlns:a="http://schemas.openxmlformats.org/drawingml/2006/main">
            <a:srgbClr val="2E6B58"/>
          </a:solidFill>
          <a:ln xmlns:a="http://schemas.openxmlformats.org/drawingml/2006/main" w="0">
            <a:solidFill>
              <a:srgbClr val="2E6B58"/>
            </a:solidFill>
            <a:prstDash val="solid"/>
          </a:ln>
        </p:spPr>
      </p:sp>
      <p:sp>
        <p:nvSpPr>
          <p:cNvPr id="14" name="">
            <a:extLst xmlns:a="http://schemas.openxmlformats.org/drawingml/2006/main">
              <a:ext uri="{FF2B5EF4-FFF2-40B4-BE49-F238E27FC236}">
                <a16:creationId xmlns:a16="http://schemas.microsoft.com/office/drawing/2014/main" id="{11D224CA-B880-4ACE-AA92-9863F635E0A2}"/>
              </a:ext>
            </a:extLst>
          </p:cNvPr>
          <p:cNvSpPr>
            <a:spLocks xmlns:a="http://schemas.openxmlformats.org/drawingml/2006/main" noGrp="1"/>
          </p:cNvSpPr>
          <p:nvPr/>
        </p:nvSpPr>
        <p:spPr>
          <a:xfrm xmlns:a="http://schemas.openxmlformats.org/drawingml/2006/main">
            <a:off x="1066800" y="3543300"/>
            <a:ext cx="5543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01C"/>
                </a:solidFill>
              </a:defRPr>
            </a:pPr>
            <a:r>
              <a:rPr sz="1575" b="0">
                <a:solidFill>
                  <a:srgbClr val="17201C"/>
                </a:solidFill>
              </a:rPr>
              <a:t>保管庫・実験室・研究室で管理方法が異なる</a:t>
            </a:r>
          </a:p>
        </p:txBody>
      </p:sp>
      <p:sp>
        <p:nvSpPr>
          <p:cNvPr id="15" name="">
            <a:extLst xmlns:a="http://schemas.openxmlformats.org/drawingml/2006/main">
              <a:ext uri="{FF2B5EF4-FFF2-40B4-BE49-F238E27FC236}">
                <a16:creationId xmlns:a16="http://schemas.microsoft.com/office/drawing/2014/main" id="{1E8F36A7-213B-436F-BA0A-0F7E6F9F4724}"/>
              </a:ext>
            </a:extLst>
          </p:cNvPr>
          <p:cNvSpPr>
            <a:spLocks xmlns:a="http://schemas.openxmlformats.org/drawingml/2006/main" noGrp="1"/>
          </p:cNvSpPr>
          <p:nvPr/>
        </p:nvSpPr>
        <p:spPr>
          <a:xfrm xmlns:a="http://schemas.openxmlformats.org/drawingml/2006/main">
            <a:off x="800100" y="4152900"/>
            <a:ext cx="114300" cy="114300"/>
          </a:xfrm>
          <a:prstGeom xmlns:a="http://schemas.openxmlformats.org/drawingml/2006/main" prst="ellipse">
            <a:avLst/>
          </a:prstGeom>
          <a:solidFill xmlns:a="http://schemas.openxmlformats.org/drawingml/2006/main">
            <a:srgbClr val="2E6B58"/>
          </a:solidFill>
          <a:ln xmlns:a="http://schemas.openxmlformats.org/drawingml/2006/main" w="0">
            <a:solidFill>
              <a:srgbClr val="2E6B58"/>
            </a:solidFill>
            <a:prstDash val="solid"/>
          </a:ln>
        </p:spPr>
      </p:sp>
      <p:sp>
        <p:nvSpPr>
          <p:cNvPr id="16" name="">
            <a:extLst xmlns:a="http://schemas.openxmlformats.org/drawingml/2006/main">
              <a:ext uri="{FF2B5EF4-FFF2-40B4-BE49-F238E27FC236}">
                <a16:creationId xmlns:a16="http://schemas.microsoft.com/office/drawing/2014/main" id="{E2AE0F20-F681-4CB0-92E6-07C7C2E9A971}"/>
              </a:ext>
            </a:extLst>
          </p:cNvPr>
          <p:cNvSpPr>
            <a:spLocks xmlns:a="http://schemas.openxmlformats.org/drawingml/2006/main" noGrp="1"/>
          </p:cNvSpPr>
          <p:nvPr/>
        </p:nvSpPr>
        <p:spPr>
          <a:xfrm xmlns:a="http://schemas.openxmlformats.org/drawingml/2006/main">
            <a:off x="1066800" y="4076700"/>
            <a:ext cx="5543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01C"/>
                </a:solidFill>
              </a:defRPr>
            </a:pPr>
            <a:r>
              <a:rPr sz="1575" b="0">
                <a:solidFill>
                  <a:srgbClr val="17201C"/>
                </a:solidFill>
              </a:rPr>
              <a:t>安全管理に必要な情報共有が遅れやすい</a:t>
            </a:r>
          </a:p>
        </p:txBody>
      </p:sp>
      <p:sp>
        <p:nvSpPr>
          <p:cNvPr id="17" name="">
            <a:extLst xmlns:a="http://schemas.openxmlformats.org/drawingml/2006/main">
              <a:ext uri="{FF2B5EF4-FFF2-40B4-BE49-F238E27FC236}">
                <a16:creationId xmlns:a16="http://schemas.microsoft.com/office/drawing/2014/main" id="{E7F7995B-EBE5-4269-A40B-276FB02213B9}"/>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02</a:t>
            </a:r>
          </a:p>
        </p:txBody>
      </p:sp>
      <p:sp>
        <p:nvSpPr>
          <p:cNvPr id="18" name="">
            <a:extLst xmlns:a="http://schemas.openxmlformats.org/drawingml/2006/main">
              <a:ext uri="{FF2B5EF4-FFF2-40B4-BE49-F238E27FC236}">
                <a16:creationId xmlns:a16="http://schemas.microsoft.com/office/drawing/2014/main" id="{F215F07E-9E48-46E8-9642-1B3290F4595E}"/>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461266640"/>
      </p:ext>
    </p:extLst>
  </p:cSld>
</p:sld>
</file>

<file path=ppt/slides/slide3.xml><?xml version="1.0" encoding="utf-8"?>
<p:sld xmlns:p="http://schemas.openxmlformats.org/presentationml/2006/main">
  <p:cSld>
    <p:bg>
      <p:bgPr>
        <a:solidFill xmlns:a="http://schemas.openxmlformats.org/drawingml/2006/main">
          <a:srgbClr val="F4FB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1BC142-47B1-4C3B-88A8-4DEB40A322D9}"/>
              </a:ext>
            </a:extLst>
          </p:cNvPr>
          <p:cNvSpPr>
            <a:spLocks xmlns:a="http://schemas.openxmlformats.org/drawingml/2006/main" noGrp="1"/>
          </p:cNvSpPr>
          <p:nvPr/>
        </p:nvSpPr>
        <p:spPr>
          <a:xfrm xmlns:a="http://schemas.openxmlformats.org/drawingml/2006/main">
            <a:off x="68580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引き継ぎ内容</a:t>
            </a:r>
          </a:p>
        </p:txBody>
      </p:sp>
      <p:sp>
        <p:nvSpPr>
          <p:cNvPr id="2" name="">
            <a:extLst xmlns:a="http://schemas.openxmlformats.org/drawingml/2006/main">
              <a:ext uri="{FF2B5EF4-FFF2-40B4-BE49-F238E27FC236}">
                <a16:creationId xmlns:a16="http://schemas.microsoft.com/office/drawing/2014/main" id="{CB7B3C83-4518-4ABE-94CC-BC52E5133009}"/>
              </a:ext>
            </a:extLst>
          </p:cNvPr>
          <p:cNvSpPr>
            <a:spLocks xmlns:a="http://schemas.openxmlformats.org/drawingml/2006/main" noGrp="1"/>
          </p:cNvSpPr>
          <p:nvPr/>
        </p:nvSpPr>
        <p:spPr>
          <a:xfrm xmlns:a="http://schemas.openxmlformats.org/drawingml/2006/main">
            <a:off x="685800" y="7239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01C"/>
                </a:solidFill>
              </a:defRPr>
            </a:pPr>
            <a:r>
              <a:rPr sz="2700" b="1">
                <a:solidFill>
                  <a:srgbClr val="17201C"/>
                </a:solidFill>
              </a:rPr>
              <a:t>昨年度は、紙の記録をアプリで扱える状態まで到達した</a:t>
            </a:r>
          </a:p>
        </p:txBody>
      </p:sp>
      <p:sp>
        <p:nvSpPr>
          <p:cNvPr id="3" name="">
            <a:extLst xmlns:a="http://schemas.openxmlformats.org/drawingml/2006/main">
              <a:ext uri="{FF2B5EF4-FFF2-40B4-BE49-F238E27FC236}">
                <a16:creationId xmlns:a16="http://schemas.microsoft.com/office/drawing/2014/main" id="{7E4040FC-C88A-40CF-A563-5E94A4A60A7C}"/>
              </a:ext>
            </a:extLst>
          </p:cNvPr>
          <p:cNvSpPr>
            <a:spLocks xmlns:a="http://schemas.openxmlformats.org/drawingml/2006/main" noGrp="1"/>
          </p:cNvSpPr>
          <p:nvPr/>
        </p:nvSpPr>
        <p:spPr>
          <a:xfrm xmlns:a="http://schemas.openxmlformats.org/drawingml/2006/main">
            <a:off x="704850" y="1504950"/>
            <a:ext cx="48768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5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86727e59c4f433e"/>
          <a:srcRect xmlns:a="http://schemas.openxmlformats.org/drawingml/2006/main" l="4224" t="0" r="4224" b="0"/>
          <a:stretch xmlns:a="http://schemas.openxmlformats.org/drawingml/2006/main">
            <a:fillRect l="0" t="0" r="0" b="0"/>
          </a:stretch>
        </p:blipFill>
        <p:spPr>
          <a:xfrm xmlns:a="http://schemas.openxmlformats.org/drawingml/2006/main">
            <a:off x="895350" y="1695450"/>
            <a:ext cx="4495800" cy="2762250"/>
          </a:xfrm>
          <a:prstGeom xmlns:a="http://schemas.openxmlformats.org/drawingml/2006/main" prst="roundRect">
            <a:avLst>
              <a:gd name="adj" fmla="val 2759"/>
            </a:avLst>
          </a:prstGeom>
        </p:spPr>
      </p:pic>
      <p:sp>
        <p:nvSpPr>
          <p:cNvPr id="5" name="">
            <a:extLst xmlns:a="http://schemas.openxmlformats.org/drawingml/2006/main">
              <a:ext uri="{FF2B5EF4-FFF2-40B4-BE49-F238E27FC236}">
                <a16:creationId xmlns:a16="http://schemas.microsoft.com/office/drawing/2014/main" id="{2866DF31-059A-4DF4-B4A8-F33D3EF4EE48}"/>
              </a:ext>
            </a:extLst>
          </p:cNvPr>
          <p:cNvSpPr>
            <a:spLocks xmlns:a="http://schemas.openxmlformats.org/drawingml/2006/main" noGrp="1"/>
          </p:cNvSpPr>
          <p:nvPr/>
        </p:nvSpPr>
        <p:spPr>
          <a:xfrm xmlns:a="http://schemas.openxmlformats.org/drawingml/2006/main">
            <a:off x="5962650" y="1504950"/>
            <a:ext cx="48768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5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4b7666da06f437f"/>
          <a:srcRect xmlns:a="http://schemas.openxmlformats.org/drawingml/2006/main" l="4224" t="0" r="4224" b="0"/>
          <a:stretch xmlns:a="http://schemas.openxmlformats.org/drawingml/2006/main">
            <a:fillRect l="0" t="0" r="0" b="0"/>
          </a:stretch>
        </p:blipFill>
        <p:spPr>
          <a:xfrm xmlns:a="http://schemas.openxmlformats.org/drawingml/2006/main">
            <a:off x="6153150" y="1695450"/>
            <a:ext cx="4495800" cy="2762250"/>
          </a:xfrm>
          <a:prstGeom xmlns:a="http://schemas.openxmlformats.org/drawingml/2006/main" prst="roundRect">
            <a:avLst>
              <a:gd name="adj" fmla="val 2759"/>
            </a:avLst>
          </a:prstGeom>
        </p:spPr>
      </p:pic>
      <p:sp>
        <p:nvSpPr>
          <p:cNvPr id="7" name="">
            <a:extLst xmlns:a="http://schemas.openxmlformats.org/drawingml/2006/main">
              <a:ext uri="{FF2B5EF4-FFF2-40B4-BE49-F238E27FC236}">
                <a16:creationId xmlns:a16="http://schemas.microsoft.com/office/drawing/2014/main" id="{6C67F812-FCFB-427F-A7B6-81BCBAC55585}"/>
              </a:ext>
            </a:extLst>
          </p:cNvPr>
          <p:cNvSpPr>
            <a:spLocks xmlns:a="http://schemas.openxmlformats.org/drawingml/2006/main" noGrp="1"/>
          </p:cNvSpPr>
          <p:nvPr/>
        </p:nvSpPr>
        <p:spPr>
          <a:xfrm xmlns:a="http://schemas.openxmlformats.org/drawingml/2006/main">
            <a:off x="1257300" y="4991100"/>
            <a:ext cx="1352550" cy="323850"/>
          </a:xfrm>
          <a:prstGeom xmlns:a="http://schemas.openxmlformats.org/drawingml/2006/main" prst="roundRect">
            <a:avLst>
              <a:gd name="adj" fmla="val 50000"/>
            </a:avLst>
          </a:prstGeom>
          <a:solidFill xmlns:a="http://schemas.openxmlformats.org/drawingml/2006/main">
            <a:srgbClr val="E8F6F0"/>
          </a:solidFill>
          <a:ln xmlns:a="http://schemas.openxmlformats.org/drawingml/2006/main" w="9525">
            <a:solidFill>
              <a:srgbClr val="B7D9CD"/>
            </a:solidFill>
            <a:prstDash val="solid"/>
          </a:ln>
        </p:spPr>
      </p:sp>
      <p:sp>
        <p:nvSpPr>
          <p:cNvPr id="8" name="">
            <a:extLst xmlns:a="http://schemas.openxmlformats.org/drawingml/2006/main">
              <a:ext uri="{FF2B5EF4-FFF2-40B4-BE49-F238E27FC236}">
                <a16:creationId xmlns:a16="http://schemas.microsoft.com/office/drawing/2014/main" id="{B7B8D490-4503-40FB-A2FB-EECA9E09F261}"/>
              </a:ext>
            </a:extLst>
          </p:cNvPr>
          <p:cNvSpPr>
            <a:spLocks xmlns:a="http://schemas.openxmlformats.org/drawingml/2006/main" noGrp="1"/>
          </p:cNvSpPr>
          <p:nvPr/>
        </p:nvSpPr>
        <p:spPr>
          <a:xfrm xmlns:a="http://schemas.openxmlformats.org/drawingml/2006/main">
            <a:off x="1409700" y="50482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E6B58"/>
                </a:solidFill>
              </a:defRPr>
            </a:pPr>
            <a:r>
              <a:rPr sz="975" b="1">
                <a:solidFill>
                  <a:srgbClr val="2E6B58"/>
                </a:solidFill>
              </a:rPr>
              <a:t>使用量登録</a:t>
            </a:r>
          </a:p>
        </p:txBody>
      </p:sp>
      <p:sp>
        <p:nvSpPr>
          <p:cNvPr id="9" name="">
            <a:extLst xmlns:a="http://schemas.openxmlformats.org/drawingml/2006/main">
              <a:ext uri="{FF2B5EF4-FFF2-40B4-BE49-F238E27FC236}">
                <a16:creationId xmlns:a16="http://schemas.microsoft.com/office/drawing/2014/main" id="{45F58E99-BBE8-423E-BE95-A34EC8D35FF5}"/>
              </a:ext>
            </a:extLst>
          </p:cNvPr>
          <p:cNvSpPr>
            <a:spLocks xmlns:a="http://schemas.openxmlformats.org/drawingml/2006/main" noGrp="1"/>
          </p:cNvSpPr>
          <p:nvPr/>
        </p:nvSpPr>
        <p:spPr>
          <a:xfrm xmlns:a="http://schemas.openxmlformats.org/drawingml/2006/main">
            <a:off x="2895600" y="4991100"/>
            <a:ext cx="1257300" cy="323850"/>
          </a:xfrm>
          <a:prstGeom xmlns:a="http://schemas.openxmlformats.org/drawingml/2006/main" prst="roundRect">
            <a:avLst>
              <a:gd name="adj" fmla="val 50000"/>
            </a:avLst>
          </a:prstGeom>
          <a:solidFill xmlns:a="http://schemas.openxmlformats.org/drawingml/2006/main">
            <a:srgbClr val="E8F6F0"/>
          </a:solidFill>
          <a:ln xmlns:a="http://schemas.openxmlformats.org/drawingml/2006/main" w="9525">
            <a:solidFill>
              <a:srgbClr val="B7D9CD"/>
            </a:solidFill>
            <a:prstDash val="solid"/>
          </a:ln>
        </p:spPr>
      </p:sp>
      <p:sp>
        <p:nvSpPr>
          <p:cNvPr id="10" name="">
            <a:extLst xmlns:a="http://schemas.openxmlformats.org/drawingml/2006/main">
              <a:ext uri="{FF2B5EF4-FFF2-40B4-BE49-F238E27FC236}">
                <a16:creationId xmlns:a16="http://schemas.microsoft.com/office/drawing/2014/main" id="{EB728C99-4F6A-42DC-92F7-1A3998C737DA}"/>
              </a:ext>
            </a:extLst>
          </p:cNvPr>
          <p:cNvSpPr>
            <a:spLocks xmlns:a="http://schemas.openxmlformats.org/drawingml/2006/main" noGrp="1"/>
          </p:cNvSpPr>
          <p:nvPr/>
        </p:nvSpPr>
        <p:spPr>
          <a:xfrm xmlns:a="http://schemas.openxmlformats.org/drawingml/2006/main">
            <a:off x="3048000" y="50482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E6B58"/>
                </a:solidFill>
              </a:defRPr>
            </a:pPr>
            <a:r>
              <a:rPr sz="975" b="1">
                <a:solidFill>
                  <a:srgbClr val="2E6B58"/>
                </a:solidFill>
              </a:rPr>
              <a:t>残量確認</a:t>
            </a:r>
          </a:p>
        </p:txBody>
      </p:sp>
      <p:sp>
        <p:nvSpPr>
          <p:cNvPr id="11" name="">
            <a:extLst xmlns:a="http://schemas.openxmlformats.org/drawingml/2006/main">
              <a:ext uri="{FF2B5EF4-FFF2-40B4-BE49-F238E27FC236}">
                <a16:creationId xmlns:a16="http://schemas.microsoft.com/office/drawing/2014/main" id="{5C62D58C-FE22-4EC4-A57C-C96E11DA8515}"/>
              </a:ext>
            </a:extLst>
          </p:cNvPr>
          <p:cNvSpPr>
            <a:spLocks xmlns:a="http://schemas.openxmlformats.org/drawingml/2006/main" noGrp="1"/>
          </p:cNvSpPr>
          <p:nvPr/>
        </p:nvSpPr>
        <p:spPr>
          <a:xfrm xmlns:a="http://schemas.openxmlformats.org/drawingml/2006/main">
            <a:off x="4533900" y="4991100"/>
            <a:ext cx="1409700" cy="323850"/>
          </a:xfrm>
          <a:prstGeom xmlns:a="http://schemas.openxmlformats.org/drawingml/2006/main" prst="roundRect">
            <a:avLst>
              <a:gd name="adj" fmla="val 50000"/>
            </a:avLst>
          </a:prstGeom>
          <a:solidFill xmlns:a="http://schemas.openxmlformats.org/drawingml/2006/main">
            <a:srgbClr val="E8F6F0"/>
          </a:solidFill>
          <a:ln xmlns:a="http://schemas.openxmlformats.org/drawingml/2006/main" w="9525">
            <a:solidFill>
              <a:srgbClr val="B7D9CD"/>
            </a:solidFill>
            <a:prstDash val="solid"/>
          </a:ln>
        </p:spPr>
      </p:sp>
      <p:sp>
        <p:nvSpPr>
          <p:cNvPr id="12" name="">
            <a:extLst xmlns:a="http://schemas.openxmlformats.org/drawingml/2006/main">
              <a:ext uri="{FF2B5EF4-FFF2-40B4-BE49-F238E27FC236}">
                <a16:creationId xmlns:a16="http://schemas.microsoft.com/office/drawing/2014/main" id="{0F8A1D16-F613-46B7-B8D5-B4F545DD1BB3}"/>
              </a:ext>
            </a:extLst>
          </p:cNvPr>
          <p:cNvSpPr>
            <a:spLocks xmlns:a="http://schemas.openxmlformats.org/drawingml/2006/main" noGrp="1"/>
          </p:cNvSpPr>
          <p:nvPr/>
        </p:nvSpPr>
        <p:spPr>
          <a:xfrm xmlns:a="http://schemas.openxmlformats.org/drawingml/2006/main">
            <a:off x="4686300" y="504825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E6B58"/>
                </a:solidFill>
              </a:defRPr>
            </a:pPr>
            <a:r>
              <a:rPr sz="975" b="1">
                <a:solidFill>
                  <a:srgbClr val="2E6B58"/>
                </a:solidFill>
              </a:rPr>
              <a:t>Webアプリ化</a:t>
            </a:r>
          </a:p>
        </p:txBody>
      </p:sp>
      <p:sp>
        <p:nvSpPr>
          <p:cNvPr id="13" name="">
            <a:extLst xmlns:a="http://schemas.openxmlformats.org/drawingml/2006/main">
              <a:ext uri="{FF2B5EF4-FFF2-40B4-BE49-F238E27FC236}">
                <a16:creationId xmlns:a16="http://schemas.microsoft.com/office/drawing/2014/main" id="{4D6A4E1B-4BE2-4FB4-88C8-9F2C7B922FED}"/>
              </a:ext>
            </a:extLst>
          </p:cNvPr>
          <p:cNvSpPr>
            <a:spLocks xmlns:a="http://schemas.openxmlformats.org/drawingml/2006/main" noGrp="1"/>
          </p:cNvSpPr>
          <p:nvPr/>
        </p:nvSpPr>
        <p:spPr>
          <a:xfrm xmlns:a="http://schemas.openxmlformats.org/drawingml/2006/main">
            <a:off x="6229350" y="4991100"/>
            <a:ext cx="19621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7D9CD"/>
            </a:solidFill>
            <a:prstDash val="solid"/>
          </a:ln>
        </p:spPr>
      </p:sp>
      <p:sp>
        <p:nvSpPr>
          <p:cNvPr id="14" name="">
            <a:extLst xmlns:a="http://schemas.openxmlformats.org/drawingml/2006/main">
              <a:ext uri="{FF2B5EF4-FFF2-40B4-BE49-F238E27FC236}">
                <a16:creationId xmlns:a16="http://schemas.microsoft.com/office/drawing/2014/main" id="{5A7931DB-414B-436D-A0B4-43C90E839565}"/>
              </a:ext>
            </a:extLst>
          </p:cNvPr>
          <p:cNvSpPr>
            <a:spLocks xmlns:a="http://schemas.openxmlformats.org/drawingml/2006/main" noGrp="1"/>
          </p:cNvSpPr>
          <p:nvPr/>
        </p:nvSpPr>
        <p:spPr>
          <a:xfrm xmlns:a="http://schemas.openxmlformats.org/drawingml/2006/main">
            <a:off x="6381750" y="5048250"/>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E6B58"/>
                </a:solidFill>
              </a:defRPr>
            </a:pPr>
            <a:r>
              <a:rPr sz="975" b="1">
                <a:solidFill>
                  <a:srgbClr val="2E6B58"/>
                </a:solidFill>
              </a:rPr>
              <a:t>Next.js / Supabase</a:t>
            </a:r>
          </a:p>
        </p:txBody>
      </p:sp>
      <p:sp>
        <p:nvSpPr>
          <p:cNvPr id="15" name="">
            <a:extLst xmlns:a="http://schemas.openxmlformats.org/drawingml/2006/main">
              <a:ext uri="{FF2B5EF4-FFF2-40B4-BE49-F238E27FC236}">
                <a16:creationId xmlns:a16="http://schemas.microsoft.com/office/drawing/2014/main" id="{DDF6A383-8646-4B3D-9D5F-624590AE35BD}"/>
              </a:ext>
            </a:extLst>
          </p:cNvPr>
          <p:cNvSpPr>
            <a:spLocks xmlns:a="http://schemas.openxmlformats.org/drawingml/2006/main" noGrp="1"/>
          </p:cNvSpPr>
          <p:nvPr/>
        </p:nvSpPr>
        <p:spPr>
          <a:xfrm xmlns:a="http://schemas.openxmlformats.org/drawingml/2006/main">
            <a:off x="1257300" y="554355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01C"/>
                </a:solidFill>
              </a:defRPr>
            </a:pPr>
            <a:r>
              <a:rPr sz="1500" b="1">
                <a:solidFill>
                  <a:srgbClr val="17201C"/>
                </a:solidFill>
              </a:rPr>
              <a:t>最低限の記録・閲覧機能が実装済み。ここから「記録されたデータをどう活用するか」が今年度の論点になる。</a:t>
            </a:r>
          </a:p>
        </p:txBody>
      </p:sp>
      <p:sp>
        <p:nvSpPr>
          <p:cNvPr id="16" name="">
            <a:extLst xmlns:a="http://schemas.openxmlformats.org/drawingml/2006/main">
              <a:ext uri="{FF2B5EF4-FFF2-40B4-BE49-F238E27FC236}">
                <a16:creationId xmlns:a16="http://schemas.microsoft.com/office/drawing/2014/main" id="{26F04B5C-C39A-42B2-996C-AFA12102D38F}"/>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03</a:t>
            </a:r>
          </a:p>
        </p:txBody>
      </p:sp>
      <p:sp>
        <p:nvSpPr>
          <p:cNvPr id="17" name="">
            <a:extLst xmlns:a="http://schemas.openxmlformats.org/drawingml/2006/main">
              <a:ext uri="{FF2B5EF4-FFF2-40B4-BE49-F238E27FC236}">
                <a16:creationId xmlns:a16="http://schemas.microsoft.com/office/drawing/2014/main" id="{3203E926-B91F-4F50-B57A-34CE31EE6CD4}"/>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5675071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287380-0F57-4277-8A66-ABDBB1F01FEE}"/>
              </a:ext>
            </a:extLst>
          </p:cNvPr>
          <p:cNvSpPr>
            <a:spLocks xmlns:a="http://schemas.openxmlformats.org/drawingml/2006/main" noGrp="1"/>
          </p:cNvSpPr>
          <p:nvPr/>
        </p:nvSpPr>
        <p:spPr>
          <a:xfrm xmlns:a="http://schemas.openxmlformats.org/drawingml/2006/main">
            <a:off x="68580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今年度の課題</a:t>
            </a:r>
          </a:p>
        </p:txBody>
      </p:sp>
      <p:sp>
        <p:nvSpPr>
          <p:cNvPr id="2" name="">
            <a:extLst xmlns:a="http://schemas.openxmlformats.org/drawingml/2006/main">
              <a:ext uri="{FF2B5EF4-FFF2-40B4-BE49-F238E27FC236}">
                <a16:creationId xmlns:a16="http://schemas.microsoft.com/office/drawing/2014/main" id="{2A0ED32A-8CA0-4402-8B8B-B53EF68FB326}"/>
              </a:ext>
            </a:extLst>
          </p:cNvPr>
          <p:cNvSpPr>
            <a:spLocks xmlns:a="http://schemas.openxmlformats.org/drawingml/2006/main" noGrp="1"/>
          </p:cNvSpPr>
          <p:nvPr/>
        </p:nvSpPr>
        <p:spPr>
          <a:xfrm xmlns:a="http://schemas.openxmlformats.org/drawingml/2006/main">
            <a:off x="685800" y="7239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01C"/>
                </a:solidFill>
              </a:defRPr>
            </a:pPr>
            <a:r>
              <a:rPr sz="2700" b="1">
                <a:solidFill>
                  <a:srgbClr val="17201C"/>
                </a:solidFill>
              </a:rPr>
              <a:t>記録は残るが、判断はまだ人に残っている</a:t>
            </a:r>
          </a:p>
        </p:txBody>
      </p:sp>
      <p:sp>
        <p:nvSpPr>
          <p:cNvPr id="3" name="">
            <a:extLst xmlns:a="http://schemas.openxmlformats.org/drawingml/2006/main">
              <a:ext uri="{FF2B5EF4-FFF2-40B4-BE49-F238E27FC236}">
                <a16:creationId xmlns:a16="http://schemas.microsoft.com/office/drawing/2014/main" id="{77EB7B4E-B5D6-46AD-BB0E-39A4A9A7E45F}"/>
              </a:ext>
            </a:extLst>
          </p:cNvPr>
          <p:cNvSpPr>
            <a:spLocks xmlns:a="http://schemas.openxmlformats.org/drawingml/2006/main" noGrp="1"/>
          </p:cNvSpPr>
          <p:nvPr/>
        </p:nvSpPr>
        <p:spPr>
          <a:xfrm xmlns:a="http://schemas.openxmlformats.org/drawingml/2006/main">
            <a:off x="723900" y="1466850"/>
            <a:ext cx="971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B6661"/>
                </a:solidFill>
              </a:defRPr>
            </a:pPr>
            <a:r>
              <a:rPr sz="1650" b="0">
                <a:solidFill>
                  <a:srgbClr val="5B6661"/>
                </a:solidFill>
              </a:rPr>
              <a:t>現状のアプリは「入力・閲覧」には有効だが、安全管理や在庫判断に必要な気づきは、利用者や管理者の確認作業に依存している。</a:t>
            </a:r>
          </a:p>
        </p:txBody>
      </p:sp>
      <p:sp>
        <p:nvSpPr>
          <p:cNvPr id="4" name="">
            <a:extLst xmlns:a="http://schemas.openxmlformats.org/drawingml/2006/main">
              <a:ext uri="{FF2B5EF4-FFF2-40B4-BE49-F238E27FC236}">
                <a16:creationId xmlns:a16="http://schemas.microsoft.com/office/drawing/2014/main" id="{46BF115C-54E4-486A-AD9A-0F5A05DF5367}"/>
              </a:ext>
            </a:extLst>
          </p:cNvPr>
          <p:cNvSpPr>
            <a:spLocks xmlns:a="http://schemas.openxmlformats.org/drawingml/2006/main" noGrp="1"/>
          </p:cNvSpPr>
          <p:nvPr/>
        </p:nvSpPr>
        <p:spPr>
          <a:xfrm xmlns:a="http://schemas.openxmlformats.org/drawingml/2006/main">
            <a:off x="742950" y="2590800"/>
            <a:ext cx="3009900" cy="1866900"/>
          </a:xfrm>
          <a:prstGeom xmlns:a="http://schemas.openxmlformats.org/drawingml/2006/main" prst="roundRect">
            <a:avLst>
              <a:gd name="adj" fmla="val 6122"/>
            </a:avLst>
          </a:prstGeom>
          <a:solidFill xmlns:a="http://schemas.openxmlformats.org/drawingml/2006/main">
            <a:srgbClr val="FAFCFB"/>
          </a:solidFill>
          <a:ln xmlns:a="http://schemas.openxmlformats.org/drawingml/2006/main" w="9525">
            <a:solidFill>
              <a:srgbClr val="D2E1DB"/>
            </a:solidFill>
            <a:prstDash val="solid"/>
          </a:ln>
        </p:spPr>
      </p:sp>
      <p:sp>
        <p:nvSpPr>
          <p:cNvPr id="5" name="">
            <a:extLst xmlns:a="http://schemas.openxmlformats.org/drawingml/2006/main">
              <a:ext uri="{FF2B5EF4-FFF2-40B4-BE49-F238E27FC236}">
                <a16:creationId xmlns:a16="http://schemas.microsoft.com/office/drawing/2014/main" id="{3C4842A4-6D5C-48BE-B2AB-194B007EFC5F}"/>
              </a:ext>
            </a:extLst>
          </p:cNvPr>
          <p:cNvSpPr>
            <a:spLocks xmlns:a="http://schemas.openxmlformats.org/drawingml/2006/main" noGrp="1"/>
          </p:cNvSpPr>
          <p:nvPr/>
        </p:nvSpPr>
        <p:spPr>
          <a:xfrm xmlns:a="http://schemas.openxmlformats.org/drawingml/2006/main">
            <a:off x="742950" y="2590800"/>
            <a:ext cx="3009900" cy="95250"/>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6" name="">
            <a:extLst xmlns:a="http://schemas.openxmlformats.org/drawingml/2006/main">
              <a:ext uri="{FF2B5EF4-FFF2-40B4-BE49-F238E27FC236}">
                <a16:creationId xmlns:a16="http://schemas.microsoft.com/office/drawing/2014/main" id="{CC5100B1-BBD4-4A3E-816F-3E6B4A4670EC}"/>
              </a:ext>
            </a:extLst>
          </p:cNvPr>
          <p:cNvSpPr>
            <a:spLocks xmlns:a="http://schemas.openxmlformats.org/drawingml/2006/main" noGrp="1"/>
          </p:cNvSpPr>
          <p:nvPr/>
        </p:nvSpPr>
        <p:spPr>
          <a:xfrm xmlns:a="http://schemas.openxmlformats.org/drawingml/2006/main">
            <a:off x="1009650" y="28956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01C"/>
                </a:solidFill>
              </a:defRPr>
            </a:pPr>
            <a:r>
              <a:rPr sz="1800" b="1">
                <a:solidFill>
                  <a:srgbClr val="17201C"/>
                </a:solidFill>
              </a:rPr>
              <a:t>指定数量の確認</a:t>
            </a:r>
          </a:p>
        </p:txBody>
      </p:sp>
      <p:sp>
        <p:nvSpPr>
          <p:cNvPr id="7" name="">
            <a:extLst xmlns:a="http://schemas.openxmlformats.org/drawingml/2006/main">
              <a:ext uri="{FF2B5EF4-FFF2-40B4-BE49-F238E27FC236}">
                <a16:creationId xmlns:a16="http://schemas.microsoft.com/office/drawing/2014/main" id="{2D4633AF-F901-4026-9E75-271A0D36FE8D}"/>
              </a:ext>
            </a:extLst>
          </p:cNvPr>
          <p:cNvSpPr>
            <a:spLocks xmlns:a="http://schemas.openxmlformats.org/drawingml/2006/main" noGrp="1"/>
          </p:cNvSpPr>
          <p:nvPr/>
        </p:nvSpPr>
        <p:spPr>
          <a:xfrm xmlns:a="http://schemas.openxmlformats.org/drawingml/2006/main">
            <a:off x="1009650" y="344805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B6661"/>
                </a:solidFill>
              </a:defRPr>
            </a:pPr>
            <a:r>
              <a:rPr sz="1500" b="0">
                <a:solidFill>
                  <a:srgbClr val="5B6661"/>
                </a:solidFill>
              </a:rPr>
              <a:t>人が倍率を確認し、必要な対応を判断する</a:t>
            </a:r>
          </a:p>
        </p:txBody>
      </p:sp>
      <p:sp>
        <p:nvSpPr>
          <p:cNvPr id="8" name="">
            <a:extLst xmlns:a="http://schemas.openxmlformats.org/drawingml/2006/main">
              <a:ext uri="{FF2B5EF4-FFF2-40B4-BE49-F238E27FC236}">
                <a16:creationId xmlns:a16="http://schemas.microsoft.com/office/drawing/2014/main" id="{3B54A8BC-662A-4CF8-B718-C3F1618DC23C}"/>
              </a:ext>
            </a:extLst>
          </p:cNvPr>
          <p:cNvSpPr>
            <a:spLocks xmlns:a="http://schemas.openxmlformats.org/drawingml/2006/main" noGrp="1"/>
          </p:cNvSpPr>
          <p:nvPr/>
        </p:nvSpPr>
        <p:spPr>
          <a:xfrm xmlns:a="http://schemas.openxmlformats.org/drawingml/2006/main">
            <a:off x="4305300" y="2590800"/>
            <a:ext cx="3009900" cy="1866900"/>
          </a:xfrm>
          <a:prstGeom xmlns:a="http://schemas.openxmlformats.org/drawingml/2006/main" prst="roundRect">
            <a:avLst>
              <a:gd name="adj" fmla="val 6122"/>
            </a:avLst>
          </a:prstGeom>
          <a:solidFill xmlns:a="http://schemas.openxmlformats.org/drawingml/2006/main">
            <a:srgbClr val="FAFCFB"/>
          </a:solidFill>
          <a:ln xmlns:a="http://schemas.openxmlformats.org/drawingml/2006/main" w="9525">
            <a:solidFill>
              <a:srgbClr val="D2E1DB"/>
            </a:solidFill>
            <a:prstDash val="solid"/>
          </a:ln>
        </p:spPr>
      </p:sp>
      <p:sp>
        <p:nvSpPr>
          <p:cNvPr id="9" name="">
            <a:extLst xmlns:a="http://schemas.openxmlformats.org/drawingml/2006/main">
              <a:ext uri="{FF2B5EF4-FFF2-40B4-BE49-F238E27FC236}">
                <a16:creationId xmlns:a16="http://schemas.microsoft.com/office/drawing/2014/main" id="{4BFC7131-CA91-4ED4-A12C-CEC2661F6C4D}"/>
              </a:ext>
            </a:extLst>
          </p:cNvPr>
          <p:cNvSpPr>
            <a:spLocks xmlns:a="http://schemas.openxmlformats.org/drawingml/2006/main" noGrp="1"/>
          </p:cNvSpPr>
          <p:nvPr/>
        </p:nvSpPr>
        <p:spPr>
          <a:xfrm xmlns:a="http://schemas.openxmlformats.org/drawingml/2006/main">
            <a:off x="4305300" y="2590800"/>
            <a:ext cx="3009900" cy="952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0" name="">
            <a:extLst xmlns:a="http://schemas.openxmlformats.org/drawingml/2006/main">
              <a:ext uri="{FF2B5EF4-FFF2-40B4-BE49-F238E27FC236}">
                <a16:creationId xmlns:a16="http://schemas.microsoft.com/office/drawing/2014/main" id="{B019C67F-4BED-48E6-A1C2-D449BD7CC7FA}"/>
              </a:ext>
            </a:extLst>
          </p:cNvPr>
          <p:cNvSpPr>
            <a:spLocks xmlns:a="http://schemas.openxmlformats.org/drawingml/2006/main" noGrp="1"/>
          </p:cNvSpPr>
          <p:nvPr/>
        </p:nvSpPr>
        <p:spPr>
          <a:xfrm xmlns:a="http://schemas.openxmlformats.org/drawingml/2006/main">
            <a:off x="4572000" y="28956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01C"/>
                </a:solidFill>
              </a:defRPr>
            </a:pPr>
            <a:r>
              <a:rPr sz="1800" b="1">
                <a:solidFill>
                  <a:srgbClr val="17201C"/>
                </a:solidFill>
              </a:rPr>
              <a:t>欠品への気づき</a:t>
            </a:r>
          </a:p>
        </p:txBody>
      </p:sp>
      <p:sp>
        <p:nvSpPr>
          <p:cNvPr id="11" name="">
            <a:extLst xmlns:a="http://schemas.openxmlformats.org/drawingml/2006/main">
              <a:ext uri="{FF2B5EF4-FFF2-40B4-BE49-F238E27FC236}">
                <a16:creationId xmlns:a16="http://schemas.microsoft.com/office/drawing/2014/main" id="{950FCB64-F9C7-4C4C-8C9C-91622583A79A}"/>
              </a:ext>
            </a:extLst>
          </p:cNvPr>
          <p:cNvSpPr>
            <a:spLocks xmlns:a="http://schemas.openxmlformats.org/drawingml/2006/main" noGrp="1"/>
          </p:cNvSpPr>
          <p:nvPr/>
        </p:nvSpPr>
        <p:spPr>
          <a:xfrm xmlns:a="http://schemas.openxmlformats.org/drawingml/2006/main">
            <a:off x="4572000" y="344805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B6661"/>
                </a:solidFill>
              </a:defRPr>
            </a:pPr>
            <a:r>
              <a:rPr sz="1500" b="0">
                <a:solidFill>
                  <a:srgbClr val="5B6661"/>
                </a:solidFill>
              </a:rPr>
              <a:t>残量を見た人の経験と勘に依存する</a:t>
            </a:r>
          </a:p>
        </p:txBody>
      </p:sp>
      <p:sp>
        <p:nvSpPr>
          <p:cNvPr id="12" name="">
            <a:extLst xmlns:a="http://schemas.openxmlformats.org/drawingml/2006/main">
              <a:ext uri="{FF2B5EF4-FFF2-40B4-BE49-F238E27FC236}">
                <a16:creationId xmlns:a16="http://schemas.microsoft.com/office/drawing/2014/main" id="{FD79147F-4067-4D6D-8274-7425B23C0718}"/>
              </a:ext>
            </a:extLst>
          </p:cNvPr>
          <p:cNvSpPr>
            <a:spLocks xmlns:a="http://schemas.openxmlformats.org/drawingml/2006/main" noGrp="1"/>
          </p:cNvSpPr>
          <p:nvPr/>
        </p:nvSpPr>
        <p:spPr>
          <a:xfrm xmlns:a="http://schemas.openxmlformats.org/drawingml/2006/main">
            <a:off x="7867650" y="2590800"/>
            <a:ext cx="3009900" cy="1866900"/>
          </a:xfrm>
          <a:prstGeom xmlns:a="http://schemas.openxmlformats.org/drawingml/2006/main" prst="roundRect">
            <a:avLst>
              <a:gd name="adj" fmla="val 6122"/>
            </a:avLst>
          </a:prstGeom>
          <a:solidFill xmlns:a="http://schemas.openxmlformats.org/drawingml/2006/main">
            <a:srgbClr val="FAFCFB"/>
          </a:solidFill>
          <a:ln xmlns:a="http://schemas.openxmlformats.org/drawingml/2006/main" w="9525">
            <a:solidFill>
              <a:srgbClr val="D2E1DB"/>
            </a:solidFill>
            <a:prstDash val="solid"/>
          </a:ln>
        </p:spPr>
      </p:sp>
      <p:sp>
        <p:nvSpPr>
          <p:cNvPr id="13" name="">
            <a:extLst xmlns:a="http://schemas.openxmlformats.org/drawingml/2006/main">
              <a:ext uri="{FF2B5EF4-FFF2-40B4-BE49-F238E27FC236}">
                <a16:creationId xmlns:a16="http://schemas.microsoft.com/office/drawing/2014/main" id="{6BF1AA0C-D25F-4A64-9714-0BC386451FCC}"/>
              </a:ext>
            </a:extLst>
          </p:cNvPr>
          <p:cNvSpPr>
            <a:spLocks xmlns:a="http://schemas.openxmlformats.org/drawingml/2006/main" noGrp="1"/>
          </p:cNvSpPr>
          <p:nvPr/>
        </p:nvSpPr>
        <p:spPr>
          <a:xfrm xmlns:a="http://schemas.openxmlformats.org/drawingml/2006/main">
            <a:off x="7867650" y="2590800"/>
            <a:ext cx="3009900" cy="95250"/>
          </a:xfrm>
          <a:prstGeom xmlns:a="http://schemas.openxmlformats.org/drawingml/2006/main" prst="rect">
            <a:avLst/>
          </a:prstGeom>
          <a:solidFill xmlns:a="http://schemas.openxmlformats.org/drawingml/2006/main">
            <a:srgbClr val="3A7CA5"/>
          </a:solidFill>
          <a:ln xmlns:a="http://schemas.openxmlformats.org/drawingml/2006/main" w="0">
            <a:solidFill>
              <a:srgbClr val="3A7CA5"/>
            </a:solidFill>
            <a:prstDash val="solid"/>
          </a:ln>
        </p:spPr>
      </p:sp>
      <p:sp>
        <p:nvSpPr>
          <p:cNvPr id="14" name="">
            <a:extLst xmlns:a="http://schemas.openxmlformats.org/drawingml/2006/main">
              <a:ext uri="{FF2B5EF4-FFF2-40B4-BE49-F238E27FC236}">
                <a16:creationId xmlns:a16="http://schemas.microsoft.com/office/drawing/2014/main" id="{922E6C0E-D66C-4BEF-8642-47C4351DE030}"/>
              </a:ext>
            </a:extLst>
          </p:cNvPr>
          <p:cNvSpPr>
            <a:spLocks xmlns:a="http://schemas.openxmlformats.org/drawingml/2006/main" noGrp="1"/>
          </p:cNvSpPr>
          <p:nvPr/>
        </p:nvSpPr>
        <p:spPr>
          <a:xfrm xmlns:a="http://schemas.openxmlformats.org/drawingml/2006/main">
            <a:off x="8134350" y="28956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01C"/>
                </a:solidFill>
              </a:defRPr>
            </a:pPr>
            <a:r>
              <a:rPr sz="1800" b="1">
                <a:solidFill>
                  <a:srgbClr val="17201C"/>
                </a:solidFill>
              </a:rPr>
              <a:t>情報共有</a:t>
            </a:r>
          </a:p>
        </p:txBody>
      </p:sp>
      <p:sp>
        <p:nvSpPr>
          <p:cNvPr id="15" name="">
            <a:extLst xmlns:a="http://schemas.openxmlformats.org/drawingml/2006/main">
              <a:ext uri="{FF2B5EF4-FFF2-40B4-BE49-F238E27FC236}">
                <a16:creationId xmlns:a16="http://schemas.microsoft.com/office/drawing/2014/main" id="{7EA95CF5-1C92-4FEA-994D-65547A3991C0}"/>
              </a:ext>
            </a:extLst>
          </p:cNvPr>
          <p:cNvSpPr>
            <a:spLocks xmlns:a="http://schemas.openxmlformats.org/drawingml/2006/main" noGrp="1"/>
          </p:cNvSpPr>
          <p:nvPr/>
        </p:nvSpPr>
        <p:spPr>
          <a:xfrm xmlns:a="http://schemas.openxmlformats.org/drawingml/2006/main">
            <a:off x="8134350" y="344805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B6661"/>
                </a:solidFill>
              </a:defRPr>
            </a:pPr>
            <a:r>
              <a:rPr sz="1500" b="0">
                <a:solidFill>
                  <a:srgbClr val="5B6661"/>
                </a:solidFill>
              </a:rPr>
              <a:t>問題に気づくタイミングが人によって変わる</a:t>
            </a:r>
          </a:p>
        </p:txBody>
      </p:sp>
      <p:sp>
        <p:nvSpPr>
          <p:cNvPr id="16" name="">
            <a:extLst xmlns:a="http://schemas.openxmlformats.org/drawingml/2006/main">
              <a:ext uri="{FF2B5EF4-FFF2-40B4-BE49-F238E27FC236}">
                <a16:creationId xmlns:a16="http://schemas.microsoft.com/office/drawing/2014/main" id="{A5F464FF-A91E-4072-B280-844003979CC8}"/>
              </a:ext>
            </a:extLst>
          </p:cNvPr>
          <p:cNvSpPr>
            <a:spLocks xmlns:a="http://schemas.openxmlformats.org/drawingml/2006/main" noGrp="1"/>
          </p:cNvSpPr>
          <p:nvPr/>
        </p:nvSpPr>
        <p:spPr>
          <a:xfrm xmlns:a="http://schemas.openxmlformats.org/drawingml/2006/main">
            <a:off x="4552950" y="4991100"/>
            <a:ext cx="3048000" cy="400050"/>
          </a:xfrm>
          <a:prstGeom xmlns:a="http://schemas.openxmlformats.org/drawingml/2006/main" prst="rightArrow">
            <a:avLst/>
          </a:prstGeom>
          <a:solidFill xmlns:a="http://schemas.openxmlformats.org/drawingml/2006/main">
            <a:srgbClr val="CFE8DF"/>
          </a:solidFill>
          <a:ln xmlns:a="http://schemas.openxmlformats.org/drawingml/2006/main" w="9525">
            <a:solidFill>
              <a:srgbClr val="89C7B6"/>
            </a:solidFill>
            <a:prstDash val="solid"/>
          </a:ln>
        </p:spPr>
      </p:sp>
      <p:sp>
        <p:nvSpPr>
          <p:cNvPr id="17" name="">
            <a:extLst xmlns:a="http://schemas.openxmlformats.org/drawingml/2006/main">
              <a:ext uri="{FF2B5EF4-FFF2-40B4-BE49-F238E27FC236}">
                <a16:creationId xmlns:a16="http://schemas.microsoft.com/office/drawing/2014/main" id="{CF21629F-4ECA-4994-A299-A9F9FAAE4FDB}"/>
              </a:ext>
            </a:extLst>
          </p:cNvPr>
          <p:cNvSpPr>
            <a:spLocks xmlns:a="http://schemas.openxmlformats.org/drawingml/2006/main" noGrp="1"/>
          </p:cNvSpPr>
          <p:nvPr/>
        </p:nvSpPr>
        <p:spPr>
          <a:xfrm xmlns:a="http://schemas.openxmlformats.org/drawingml/2006/main">
            <a:off x="4552950" y="5086350"/>
            <a:ext cx="2971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E6B58"/>
                </a:solidFill>
              </a:defRPr>
            </a:pPr>
            <a:r>
              <a:rPr sz="900" b="1">
                <a:solidFill>
                  <a:srgbClr val="2E6B58"/>
                </a:solidFill>
              </a:rPr>
              <a:t>今年度の焦点</a:t>
            </a:r>
          </a:p>
        </p:txBody>
      </p:sp>
      <p:sp>
        <p:nvSpPr>
          <p:cNvPr id="18" name="">
            <a:extLst xmlns:a="http://schemas.openxmlformats.org/drawingml/2006/main">
              <a:ext uri="{FF2B5EF4-FFF2-40B4-BE49-F238E27FC236}">
                <a16:creationId xmlns:a16="http://schemas.microsoft.com/office/drawing/2014/main" id="{4A48A26A-D004-4826-994F-8F1F56D8FB55}"/>
              </a:ext>
            </a:extLst>
          </p:cNvPr>
          <p:cNvSpPr>
            <a:spLocks xmlns:a="http://schemas.openxmlformats.org/drawingml/2006/main" noGrp="1"/>
          </p:cNvSpPr>
          <p:nvPr/>
        </p:nvSpPr>
        <p:spPr>
          <a:xfrm xmlns:a="http://schemas.openxmlformats.org/drawingml/2006/main">
            <a:off x="2419350" y="55626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E6B58"/>
                </a:solidFill>
              </a:defRPr>
            </a:pPr>
            <a:r>
              <a:rPr sz="2100" b="1">
                <a:solidFill>
                  <a:srgbClr val="2E6B58"/>
                </a:solidFill>
              </a:rPr>
              <a:t>人が見る前提から、システムが先に気づく前提へ</a:t>
            </a:r>
          </a:p>
        </p:txBody>
      </p:sp>
      <p:sp>
        <p:nvSpPr>
          <p:cNvPr id="19" name="">
            <a:extLst xmlns:a="http://schemas.openxmlformats.org/drawingml/2006/main">
              <a:ext uri="{FF2B5EF4-FFF2-40B4-BE49-F238E27FC236}">
                <a16:creationId xmlns:a16="http://schemas.microsoft.com/office/drawing/2014/main" id="{1C866E34-013E-4D05-9CA1-6852745BC0FD}"/>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04</a:t>
            </a:r>
          </a:p>
        </p:txBody>
      </p:sp>
      <p:sp>
        <p:nvSpPr>
          <p:cNvPr id="20" name="">
            <a:extLst xmlns:a="http://schemas.openxmlformats.org/drawingml/2006/main">
              <a:ext uri="{FF2B5EF4-FFF2-40B4-BE49-F238E27FC236}">
                <a16:creationId xmlns:a16="http://schemas.microsoft.com/office/drawing/2014/main" id="{5D68400D-1831-4A99-8AE0-6B9C3FE9578C}"/>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75694848"/>
      </p:ext>
    </p:extLst>
  </p:cSld>
</p:sld>
</file>

<file path=ppt/slides/slide5.xml><?xml version="1.0" encoding="utf-8"?>
<p:sld xmlns:p="http://schemas.openxmlformats.org/presentationml/2006/main">
  <p:cSld>
    <p:bg>
      <p:bgPr>
        <a:solidFill xmlns:a="http://schemas.openxmlformats.org/drawingml/2006/main">
          <a:srgbClr val="F4FB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4DFE7D-9469-4430-8554-A0D962C091C8}"/>
              </a:ext>
            </a:extLst>
          </p:cNvPr>
          <p:cNvSpPr>
            <a:spLocks xmlns:a="http://schemas.openxmlformats.org/drawingml/2006/main" noGrp="1"/>
          </p:cNvSpPr>
          <p:nvPr/>
        </p:nvSpPr>
        <p:spPr>
          <a:xfrm xmlns:a="http://schemas.openxmlformats.org/drawingml/2006/main">
            <a:off x="68580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DXとしての位置づけ</a:t>
            </a:r>
          </a:p>
        </p:txBody>
      </p:sp>
      <p:sp>
        <p:nvSpPr>
          <p:cNvPr id="2" name="">
            <a:extLst xmlns:a="http://schemas.openxmlformats.org/drawingml/2006/main">
              <a:ext uri="{FF2B5EF4-FFF2-40B4-BE49-F238E27FC236}">
                <a16:creationId xmlns:a16="http://schemas.microsoft.com/office/drawing/2014/main" id="{57B7BAB9-B585-4788-9159-A0B7BAF79783}"/>
              </a:ext>
            </a:extLst>
          </p:cNvPr>
          <p:cNvSpPr>
            <a:spLocks xmlns:a="http://schemas.openxmlformats.org/drawingml/2006/main" noGrp="1"/>
          </p:cNvSpPr>
          <p:nvPr/>
        </p:nvSpPr>
        <p:spPr>
          <a:xfrm xmlns:a="http://schemas.openxmlformats.org/drawingml/2006/main">
            <a:off x="685800" y="7239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01C"/>
                </a:solidFill>
              </a:defRPr>
            </a:pPr>
            <a:r>
              <a:rPr sz="2700" b="1">
                <a:solidFill>
                  <a:srgbClr val="17201C"/>
                </a:solidFill>
              </a:rPr>
              <a:t>今年度は、データが業務判断を支援する段階に進める</a:t>
            </a:r>
          </a:p>
        </p:txBody>
      </p:sp>
      <p:sp>
        <p:nvSpPr>
          <p:cNvPr id="3" name="">
            <a:extLst xmlns:a="http://schemas.openxmlformats.org/drawingml/2006/main">
              <a:ext uri="{FF2B5EF4-FFF2-40B4-BE49-F238E27FC236}">
                <a16:creationId xmlns:a16="http://schemas.microsoft.com/office/drawing/2014/main" id="{571F1756-7DF4-471E-A675-2BA44E40E4D8}"/>
              </a:ext>
            </a:extLst>
          </p:cNvPr>
          <p:cNvSpPr>
            <a:spLocks xmlns:a="http://schemas.openxmlformats.org/drawingml/2006/main" noGrp="1"/>
          </p:cNvSpPr>
          <p:nvPr/>
        </p:nvSpPr>
        <p:spPr>
          <a:xfrm xmlns:a="http://schemas.openxmlformats.org/drawingml/2006/main">
            <a:off x="723900" y="1466850"/>
            <a:ext cx="942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B6661"/>
                </a:solidFill>
              </a:defRPr>
            </a:pPr>
            <a:r>
              <a:rPr sz="1650" b="0">
                <a:solidFill>
                  <a:srgbClr val="5B6661"/>
                </a:solidFill>
              </a:rPr>
              <a:t>DXプロジェクトとして重要なのは、単に画面を増やすことではなく、業務の進み方が変わること。今回の要件定義では、デジタイゼーションの次の段階を明確にした。</a:t>
            </a:r>
          </a:p>
        </p:txBody>
      </p:sp>
      <p:sp>
        <p:nvSpPr>
          <p:cNvPr id="4" name="">
            <a:extLst xmlns:a="http://schemas.openxmlformats.org/drawingml/2006/main">
              <a:ext uri="{FF2B5EF4-FFF2-40B4-BE49-F238E27FC236}">
                <a16:creationId xmlns:a16="http://schemas.microsoft.com/office/drawing/2014/main" id="{82AF39B4-2EA8-4C9A-A9D2-9797940613F7}"/>
              </a:ext>
            </a:extLst>
          </p:cNvPr>
          <p:cNvSpPr>
            <a:spLocks xmlns:a="http://schemas.openxmlformats.org/drawingml/2006/main" noGrp="1"/>
          </p:cNvSpPr>
          <p:nvPr/>
        </p:nvSpPr>
        <p:spPr>
          <a:xfrm xmlns:a="http://schemas.openxmlformats.org/drawingml/2006/main">
            <a:off x="876300" y="2857500"/>
            <a:ext cx="2857500" cy="2000250"/>
          </a:xfrm>
          <a:prstGeom xmlns:a="http://schemas.openxmlformats.org/drawingml/2006/main" prst="roundRect">
            <a:avLst>
              <a:gd name="adj" fmla="val 5714"/>
            </a:avLst>
          </a:prstGeom>
          <a:solidFill xmlns:a="http://schemas.openxmlformats.org/drawingml/2006/main">
            <a:srgbClr val="F9FBFA"/>
          </a:solidFill>
          <a:ln xmlns:a="http://schemas.openxmlformats.org/drawingml/2006/main" w="9525">
            <a:solidFill>
              <a:srgbClr val="D2E1DB"/>
            </a:solidFill>
            <a:prstDash val="solid"/>
          </a:ln>
        </p:spPr>
      </p:sp>
      <p:sp>
        <p:nvSpPr>
          <p:cNvPr id="5" name="">
            <a:extLst xmlns:a="http://schemas.openxmlformats.org/drawingml/2006/main">
              <a:ext uri="{FF2B5EF4-FFF2-40B4-BE49-F238E27FC236}">
                <a16:creationId xmlns:a16="http://schemas.microsoft.com/office/drawing/2014/main" id="{6BCC7354-E8C2-4C76-A1AC-CBEBEAB73647}"/>
              </a:ext>
            </a:extLst>
          </p:cNvPr>
          <p:cNvSpPr>
            <a:spLocks xmlns:a="http://schemas.openxmlformats.org/drawingml/2006/main" noGrp="1"/>
          </p:cNvSpPr>
          <p:nvPr/>
        </p:nvSpPr>
        <p:spPr>
          <a:xfrm xmlns:a="http://schemas.openxmlformats.org/drawingml/2006/main">
            <a:off x="1085850" y="3067050"/>
            <a:ext cx="438150" cy="438150"/>
          </a:xfrm>
          <a:prstGeom xmlns:a="http://schemas.openxmlformats.org/drawingml/2006/main" prst="ellipse">
            <a:avLst/>
          </a:prstGeom>
          <a:solidFill xmlns:a="http://schemas.openxmlformats.org/drawingml/2006/main">
            <a:srgbClr val="5B6661"/>
          </a:solidFill>
          <a:ln xmlns:a="http://schemas.openxmlformats.org/drawingml/2006/main" w="0">
            <a:solidFill>
              <a:srgbClr val="5B6661"/>
            </a:solidFill>
            <a:prstDash val="solid"/>
          </a:ln>
        </p:spPr>
      </p:sp>
      <p:sp>
        <p:nvSpPr>
          <p:cNvPr id="6" name="">
            <a:extLst xmlns:a="http://schemas.openxmlformats.org/drawingml/2006/main">
              <a:ext uri="{FF2B5EF4-FFF2-40B4-BE49-F238E27FC236}">
                <a16:creationId xmlns:a16="http://schemas.microsoft.com/office/drawing/2014/main" id="{B218E936-AA8F-4F9B-9631-13962ADC6FB2}"/>
              </a:ext>
            </a:extLst>
          </p:cNvPr>
          <p:cNvSpPr>
            <a:spLocks xmlns:a="http://schemas.openxmlformats.org/drawingml/2006/main" noGrp="1"/>
          </p:cNvSpPr>
          <p:nvPr/>
        </p:nvSpPr>
        <p:spPr>
          <a:xfrm xmlns:a="http://schemas.openxmlformats.org/drawingml/2006/main">
            <a:off x="1085850" y="315277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7" name="">
            <a:extLst xmlns:a="http://schemas.openxmlformats.org/drawingml/2006/main">
              <a:ext uri="{FF2B5EF4-FFF2-40B4-BE49-F238E27FC236}">
                <a16:creationId xmlns:a16="http://schemas.microsoft.com/office/drawing/2014/main" id="{E761190C-14B5-4705-8D18-AC7CB383E727}"/>
              </a:ext>
            </a:extLst>
          </p:cNvPr>
          <p:cNvSpPr>
            <a:spLocks xmlns:a="http://schemas.openxmlformats.org/drawingml/2006/main" noGrp="1"/>
          </p:cNvSpPr>
          <p:nvPr/>
        </p:nvSpPr>
        <p:spPr>
          <a:xfrm xmlns:a="http://schemas.openxmlformats.org/drawingml/2006/main">
            <a:off x="1657350" y="30670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7201C"/>
                </a:solidFill>
              </a:defRPr>
            </a:pPr>
            <a:r>
              <a:rPr sz="1575" b="1">
                <a:solidFill>
                  <a:srgbClr val="17201C"/>
                </a:solidFill>
              </a:rPr>
              <a:t>デジタイゼーション</a:t>
            </a:r>
          </a:p>
        </p:txBody>
      </p:sp>
      <p:sp>
        <p:nvSpPr>
          <p:cNvPr id="8" name="">
            <a:extLst xmlns:a="http://schemas.openxmlformats.org/drawingml/2006/main">
              <a:ext uri="{FF2B5EF4-FFF2-40B4-BE49-F238E27FC236}">
                <a16:creationId xmlns:a16="http://schemas.microsoft.com/office/drawing/2014/main" id="{FD7CBC0E-91A5-4456-B0CD-477C684346F9}"/>
              </a:ext>
            </a:extLst>
          </p:cNvPr>
          <p:cNvSpPr>
            <a:spLocks xmlns:a="http://schemas.openxmlformats.org/drawingml/2006/main" noGrp="1"/>
          </p:cNvSpPr>
          <p:nvPr/>
        </p:nvSpPr>
        <p:spPr>
          <a:xfrm xmlns:a="http://schemas.openxmlformats.org/drawingml/2006/main">
            <a:off x="1200150" y="36385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17201C"/>
                </a:solidFill>
              </a:defRPr>
            </a:pPr>
            <a:r>
              <a:rPr sz="1650" b="0">
                <a:solidFill>
                  <a:srgbClr val="17201C"/>
                </a:solidFill>
              </a:rPr>
              <a:t>紙の記録簿を</a:t>
            </a:r>
          </a:p>
          <a:p xmlns:a="http://schemas.openxmlformats.org/drawingml/2006/main">
            <a:pPr algn="ctr">
              <a:defRPr sz="1650" b="0">
                <a:solidFill>
                  <a:srgbClr val="17201C"/>
                </a:solidFill>
              </a:defRPr>
            </a:pPr>
            <a:r>
              <a:rPr sz="1650" b="0">
                <a:solidFill>
                  <a:srgbClr val="17201C"/>
                </a:solidFill>
              </a:rPr>
              <a:t>デジタル記録へ</a:t>
            </a:r>
          </a:p>
        </p:txBody>
      </p:sp>
      <p:sp>
        <p:nvSpPr>
          <p:cNvPr id="9" name="">
            <a:extLst xmlns:a="http://schemas.openxmlformats.org/drawingml/2006/main">
              <a:ext uri="{FF2B5EF4-FFF2-40B4-BE49-F238E27FC236}">
                <a16:creationId xmlns:a16="http://schemas.microsoft.com/office/drawing/2014/main" id="{5BD3BA02-5C04-4420-A740-B4B483D8CE11}"/>
              </a:ext>
            </a:extLst>
          </p:cNvPr>
          <p:cNvSpPr>
            <a:spLocks xmlns:a="http://schemas.openxmlformats.org/drawingml/2006/main" noGrp="1"/>
          </p:cNvSpPr>
          <p:nvPr/>
        </p:nvSpPr>
        <p:spPr>
          <a:xfrm xmlns:a="http://schemas.openxmlformats.org/drawingml/2006/main">
            <a:off x="1581150" y="4419600"/>
            <a:ext cx="1428750" cy="323850"/>
          </a:xfrm>
          <a:prstGeom xmlns:a="http://schemas.openxmlformats.org/drawingml/2006/main" prst="roundRect">
            <a:avLst>
              <a:gd name="adj" fmla="val 50000"/>
            </a:avLst>
          </a:prstGeom>
          <a:solidFill xmlns:a="http://schemas.openxmlformats.org/drawingml/2006/main">
            <a:srgbClr val="EFF4F1"/>
          </a:solidFill>
          <a:ln xmlns:a="http://schemas.openxmlformats.org/drawingml/2006/main" w="9525">
            <a:solidFill>
              <a:srgbClr val="B7D9CD"/>
            </a:solidFill>
            <a:prstDash val="solid"/>
          </a:ln>
        </p:spPr>
      </p:sp>
      <p:sp>
        <p:nvSpPr>
          <p:cNvPr id="10" name="">
            <a:extLst xmlns:a="http://schemas.openxmlformats.org/drawingml/2006/main">
              <a:ext uri="{FF2B5EF4-FFF2-40B4-BE49-F238E27FC236}">
                <a16:creationId xmlns:a16="http://schemas.microsoft.com/office/drawing/2014/main" id="{52477C45-6757-4EE6-ADE3-8813ACD831D1}"/>
              </a:ext>
            </a:extLst>
          </p:cNvPr>
          <p:cNvSpPr>
            <a:spLocks xmlns:a="http://schemas.openxmlformats.org/drawingml/2006/main" noGrp="1"/>
          </p:cNvSpPr>
          <p:nvPr/>
        </p:nvSpPr>
        <p:spPr>
          <a:xfrm xmlns:a="http://schemas.openxmlformats.org/drawingml/2006/main">
            <a:off x="1733550" y="447675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5B6661"/>
                </a:solidFill>
              </a:defRPr>
            </a:pPr>
            <a:r>
              <a:rPr sz="975" b="1">
                <a:solidFill>
                  <a:srgbClr val="5B6661"/>
                </a:solidFill>
              </a:rPr>
              <a:t>昨年度まで</a:t>
            </a:r>
          </a:p>
        </p:txBody>
      </p:sp>
      <p:sp>
        <p:nvSpPr>
          <p:cNvPr id="11" name="">
            <a:extLst xmlns:a="http://schemas.openxmlformats.org/drawingml/2006/main">
              <a:ext uri="{FF2B5EF4-FFF2-40B4-BE49-F238E27FC236}">
                <a16:creationId xmlns:a16="http://schemas.microsoft.com/office/drawing/2014/main" id="{58E8E740-4B02-42F9-9F05-497B553630AF}"/>
              </a:ext>
            </a:extLst>
          </p:cNvPr>
          <p:cNvSpPr>
            <a:spLocks xmlns:a="http://schemas.openxmlformats.org/drawingml/2006/main" noGrp="1"/>
          </p:cNvSpPr>
          <p:nvPr/>
        </p:nvSpPr>
        <p:spPr>
          <a:xfrm xmlns:a="http://schemas.openxmlformats.org/drawingml/2006/main">
            <a:off x="3867150" y="3657600"/>
            <a:ext cx="590550" cy="400050"/>
          </a:xfrm>
          <a:prstGeom xmlns:a="http://schemas.openxmlformats.org/drawingml/2006/main" prst="rightArrow">
            <a:avLst/>
          </a:prstGeom>
          <a:solidFill xmlns:a="http://schemas.openxmlformats.org/drawingml/2006/main">
            <a:srgbClr val="CFE8DF"/>
          </a:solidFill>
          <a:ln xmlns:a="http://schemas.openxmlformats.org/drawingml/2006/main" w="9525">
            <a:solidFill>
              <a:srgbClr val="89C7B6"/>
            </a:solidFill>
            <a:prstDash val="solid"/>
          </a:ln>
        </p:spPr>
      </p:sp>
      <p:sp>
        <p:nvSpPr>
          <p:cNvPr id="12" name="">
            <a:extLst xmlns:a="http://schemas.openxmlformats.org/drawingml/2006/main">
              <a:ext uri="{FF2B5EF4-FFF2-40B4-BE49-F238E27FC236}">
                <a16:creationId xmlns:a16="http://schemas.microsoft.com/office/drawing/2014/main" id="{B7EAEB59-9E80-4C56-98EE-A81D05BFF59A}"/>
              </a:ext>
            </a:extLst>
          </p:cNvPr>
          <p:cNvSpPr>
            <a:spLocks xmlns:a="http://schemas.openxmlformats.org/drawingml/2006/main" noGrp="1"/>
          </p:cNvSpPr>
          <p:nvPr/>
        </p:nvSpPr>
        <p:spPr>
          <a:xfrm xmlns:a="http://schemas.openxmlformats.org/drawingml/2006/main">
            <a:off x="4438650" y="2857500"/>
            <a:ext cx="28575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2E6B5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C468FE6F-B219-4C60-9761-DBD3FD1DE694}"/>
              </a:ext>
            </a:extLst>
          </p:cNvPr>
          <p:cNvSpPr>
            <a:spLocks xmlns:a="http://schemas.openxmlformats.org/drawingml/2006/main" noGrp="1"/>
          </p:cNvSpPr>
          <p:nvPr/>
        </p:nvSpPr>
        <p:spPr>
          <a:xfrm xmlns:a="http://schemas.openxmlformats.org/drawingml/2006/main">
            <a:off x="4648200" y="3067050"/>
            <a:ext cx="438150" cy="438150"/>
          </a:xfrm>
          <a:prstGeom xmlns:a="http://schemas.openxmlformats.org/drawingml/2006/main" prst="ellipse">
            <a:avLst/>
          </a:prstGeom>
          <a:solidFill xmlns:a="http://schemas.openxmlformats.org/drawingml/2006/main">
            <a:srgbClr val="2E6B58"/>
          </a:solidFill>
          <a:ln xmlns:a="http://schemas.openxmlformats.org/drawingml/2006/main" w="0">
            <a:solidFill>
              <a:srgbClr val="2E6B58"/>
            </a:solidFill>
            <a:prstDash val="solid"/>
          </a:ln>
        </p:spPr>
      </p:sp>
      <p:sp>
        <p:nvSpPr>
          <p:cNvPr id="14" name="">
            <a:extLst xmlns:a="http://schemas.openxmlformats.org/drawingml/2006/main">
              <a:ext uri="{FF2B5EF4-FFF2-40B4-BE49-F238E27FC236}">
                <a16:creationId xmlns:a16="http://schemas.microsoft.com/office/drawing/2014/main" id="{58F1225E-B6C4-4B5F-B024-2FD06AA70ABE}"/>
              </a:ext>
            </a:extLst>
          </p:cNvPr>
          <p:cNvSpPr>
            <a:spLocks xmlns:a="http://schemas.openxmlformats.org/drawingml/2006/main" noGrp="1"/>
          </p:cNvSpPr>
          <p:nvPr/>
        </p:nvSpPr>
        <p:spPr>
          <a:xfrm xmlns:a="http://schemas.openxmlformats.org/drawingml/2006/main">
            <a:off x="4648200" y="315277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5" name="">
            <a:extLst xmlns:a="http://schemas.openxmlformats.org/drawingml/2006/main">
              <a:ext uri="{FF2B5EF4-FFF2-40B4-BE49-F238E27FC236}">
                <a16:creationId xmlns:a16="http://schemas.microsoft.com/office/drawing/2014/main" id="{0B945114-43B1-4F8C-BA85-089213AE6C28}"/>
              </a:ext>
            </a:extLst>
          </p:cNvPr>
          <p:cNvSpPr>
            <a:spLocks xmlns:a="http://schemas.openxmlformats.org/drawingml/2006/main" noGrp="1"/>
          </p:cNvSpPr>
          <p:nvPr/>
        </p:nvSpPr>
        <p:spPr>
          <a:xfrm xmlns:a="http://schemas.openxmlformats.org/drawingml/2006/main">
            <a:off x="5219700" y="30670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7201C"/>
                </a:solidFill>
              </a:defRPr>
            </a:pPr>
            <a:r>
              <a:rPr sz="1575" b="1">
                <a:solidFill>
                  <a:srgbClr val="17201C"/>
                </a:solidFill>
              </a:rPr>
              <a:t>デジタライゼーション</a:t>
            </a:r>
          </a:p>
        </p:txBody>
      </p:sp>
      <p:sp>
        <p:nvSpPr>
          <p:cNvPr id="16" name="">
            <a:extLst xmlns:a="http://schemas.openxmlformats.org/drawingml/2006/main">
              <a:ext uri="{FF2B5EF4-FFF2-40B4-BE49-F238E27FC236}">
                <a16:creationId xmlns:a16="http://schemas.microsoft.com/office/drawing/2014/main" id="{D956BE45-FD0B-45B4-95D3-4C728BFD9E4F}"/>
              </a:ext>
            </a:extLst>
          </p:cNvPr>
          <p:cNvSpPr>
            <a:spLocks xmlns:a="http://schemas.openxmlformats.org/drawingml/2006/main" noGrp="1"/>
          </p:cNvSpPr>
          <p:nvPr/>
        </p:nvSpPr>
        <p:spPr>
          <a:xfrm xmlns:a="http://schemas.openxmlformats.org/drawingml/2006/main">
            <a:off x="4762500" y="36385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17201C"/>
                </a:solidFill>
              </a:defRPr>
            </a:pPr>
            <a:r>
              <a:rPr sz="1650" b="0">
                <a:solidFill>
                  <a:srgbClr val="17201C"/>
                </a:solidFill>
              </a:rPr>
              <a:t>システムが判断し</a:t>
            </a:r>
          </a:p>
          <a:p xmlns:a="http://schemas.openxmlformats.org/drawingml/2006/main">
            <a:pPr algn="ctr">
              <a:defRPr sz="1650" b="0">
                <a:solidFill>
                  <a:srgbClr val="17201C"/>
                </a:solidFill>
              </a:defRPr>
            </a:pPr>
            <a:r>
              <a:rPr sz="1650" b="0">
                <a:solidFill>
                  <a:srgbClr val="17201C"/>
                </a:solidFill>
              </a:rPr>
              <a:t>通知・提示する</a:t>
            </a:r>
          </a:p>
        </p:txBody>
      </p:sp>
      <p:sp>
        <p:nvSpPr>
          <p:cNvPr id="17" name="">
            <a:extLst xmlns:a="http://schemas.openxmlformats.org/drawingml/2006/main">
              <a:ext uri="{FF2B5EF4-FFF2-40B4-BE49-F238E27FC236}">
                <a16:creationId xmlns:a16="http://schemas.microsoft.com/office/drawing/2014/main" id="{360E0C1D-9B09-443E-911B-F635AB3594DE}"/>
              </a:ext>
            </a:extLst>
          </p:cNvPr>
          <p:cNvSpPr>
            <a:spLocks xmlns:a="http://schemas.openxmlformats.org/drawingml/2006/main" noGrp="1"/>
          </p:cNvSpPr>
          <p:nvPr/>
        </p:nvSpPr>
        <p:spPr>
          <a:xfrm xmlns:a="http://schemas.openxmlformats.org/drawingml/2006/main">
            <a:off x="5143500" y="4419600"/>
            <a:ext cx="1428750" cy="323850"/>
          </a:xfrm>
          <a:prstGeom xmlns:a="http://schemas.openxmlformats.org/drawingml/2006/main" prst="roundRect">
            <a:avLst>
              <a:gd name="adj" fmla="val 50000"/>
            </a:avLst>
          </a:prstGeom>
          <a:solidFill xmlns:a="http://schemas.openxmlformats.org/drawingml/2006/main">
            <a:srgbClr val="2E6B58"/>
          </a:solidFill>
          <a:ln xmlns:a="http://schemas.openxmlformats.org/drawingml/2006/main" w="9525">
            <a:solidFill>
              <a:srgbClr val="B7D9CD"/>
            </a:solidFill>
            <a:prstDash val="solid"/>
          </a:ln>
        </p:spPr>
      </p:sp>
      <p:sp>
        <p:nvSpPr>
          <p:cNvPr id="18" name="">
            <a:extLst xmlns:a="http://schemas.openxmlformats.org/drawingml/2006/main">
              <a:ext uri="{FF2B5EF4-FFF2-40B4-BE49-F238E27FC236}">
                <a16:creationId xmlns:a16="http://schemas.microsoft.com/office/drawing/2014/main" id="{79248B55-7D04-4885-BFEA-A60157376B55}"/>
              </a:ext>
            </a:extLst>
          </p:cNvPr>
          <p:cNvSpPr>
            <a:spLocks xmlns:a="http://schemas.openxmlformats.org/drawingml/2006/main" noGrp="1"/>
          </p:cNvSpPr>
          <p:nvPr/>
        </p:nvSpPr>
        <p:spPr>
          <a:xfrm xmlns:a="http://schemas.openxmlformats.org/drawingml/2006/main">
            <a:off x="5295900" y="447675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今年度の中心</a:t>
            </a:r>
          </a:p>
        </p:txBody>
      </p:sp>
      <p:sp>
        <p:nvSpPr>
          <p:cNvPr id="19" name="">
            <a:extLst xmlns:a="http://schemas.openxmlformats.org/drawingml/2006/main">
              <a:ext uri="{FF2B5EF4-FFF2-40B4-BE49-F238E27FC236}">
                <a16:creationId xmlns:a16="http://schemas.microsoft.com/office/drawing/2014/main" id="{60E7E5B6-72BE-495F-8FDF-DC218580D873}"/>
              </a:ext>
            </a:extLst>
          </p:cNvPr>
          <p:cNvSpPr>
            <a:spLocks xmlns:a="http://schemas.openxmlformats.org/drawingml/2006/main" noGrp="1"/>
          </p:cNvSpPr>
          <p:nvPr/>
        </p:nvSpPr>
        <p:spPr>
          <a:xfrm xmlns:a="http://schemas.openxmlformats.org/drawingml/2006/main">
            <a:off x="7429500" y="3657600"/>
            <a:ext cx="590550" cy="400050"/>
          </a:xfrm>
          <a:prstGeom xmlns:a="http://schemas.openxmlformats.org/drawingml/2006/main" prst="rightArrow">
            <a:avLst/>
          </a:prstGeom>
          <a:solidFill xmlns:a="http://schemas.openxmlformats.org/drawingml/2006/main">
            <a:srgbClr val="CFE8DF"/>
          </a:solidFill>
          <a:ln xmlns:a="http://schemas.openxmlformats.org/drawingml/2006/main" w="9525">
            <a:solidFill>
              <a:srgbClr val="89C7B6"/>
            </a:solidFill>
            <a:prstDash val="solid"/>
          </a:ln>
        </p:spPr>
      </p:sp>
      <p:sp>
        <p:nvSpPr>
          <p:cNvPr id="20" name="">
            <a:extLst xmlns:a="http://schemas.openxmlformats.org/drawingml/2006/main">
              <a:ext uri="{FF2B5EF4-FFF2-40B4-BE49-F238E27FC236}">
                <a16:creationId xmlns:a16="http://schemas.microsoft.com/office/drawing/2014/main" id="{0F70B19C-E2C6-4CF2-A69E-D7AC5DC2EAFA}"/>
              </a:ext>
            </a:extLst>
          </p:cNvPr>
          <p:cNvSpPr>
            <a:spLocks xmlns:a="http://schemas.openxmlformats.org/drawingml/2006/main" noGrp="1"/>
          </p:cNvSpPr>
          <p:nvPr/>
        </p:nvSpPr>
        <p:spPr>
          <a:xfrm xmlns:a="http://schemas.openxmlformats.org/drawingml/2006/main">
            <a:off x="8001000" y="2857500"/>
            <a:ext cx="2857500" cy="2000250"/>
          </a:xfrm>
          <a:prstGeom xmlns:a="http://schemas.openxmlformats.org/drawingml/2006/main" prst="roundRect">
            <a:avLst>
              <a:gd name="adj" fmla="val 5714"/>
            </a:avLst>
          </a:prstGeom>
          <a:solidFill xmlns:a="http://schemas.openxmlformats.org/drawingml/2006/main">
            <a:srgbClr val="F9FBFA"/>
          </a:solidFill>
          <a:ln xmlns:a="http://schemas.openxmlformats.org/drawingml/2006/main" w="9525">
            <a:solidFill>
              <a:srgbClr val="D2E1DB"/>
            </a:solidFill>
            <a:prstDash val="solid"/>
          </a:ln>
        </p:spPr>
      </p:sp>
      <p:sp>
        <p:nvSpPr>
          <p:cNvPr id="21" name="">
            <a:extLst xmlns:a="http://schemas.openxmlformats.org/drawingml/2006/main">
              <a:ext uri="{FF2B5EF4-FFF2-40B4-BE49-F238E27FC236}">
                <a16:creationId xmlns:a16="http://schemas.microsoft.com/office/drawing/2014/main" id="{EFB5D64A-555C-46A0-BF17-45E43F6ABD48}"/>
              </a:ext>
            </a:extLst>
          </p:cNvPr>
          <p:cNvSpPr>
            <a:spLocks xmlns:a="http://schemas.openxmlformats.org/drawingml/2006/main" noGrp="1"/>
          </p:cNvSpPr>
          <p:nvPr/>
        </p:nvSpPr>
        <p:spPr>
          <a:xfrm xmlns:a="http://schemas.openxmlformats.org/drawingml/2006/main">
            <a:off x="8210550" y="3067050"/>
            <a:ext cx="438150" cy="438150"/>
          </a:xfrm>
          <a:prstGeom xmlns:a="http://schemas.openxmlformats.org/drawingml/2006/main" prst="ellipse">
            <a:avLst/>
          </a:prstGeom>
          <a:solidFill xmlns:a="http://schemas.openxmlformats.org/drawingml/2006/main">
            <a:srgbClr val="3A7CA5"/>
          </a:solidFill>
          <a:ln xmlns:a="http://schemas.openxmlformats.org/drawingml/2006/main" w="0">
            <a:solidFill>
              <a:srgbClr val="3A7CA5"/>
            </a:solidFill>
            <a:prstDash val="solid"/>
          </a:ln>
        </p:spPr>
      </p:sp>
      <p:sp>
        <p:nvSpPr>
          <p:cNvPr id="22" name="">
            <a:extLst xmlns:a="http://schemas.openxmlformats.org/drawingml/2006/main">
              <a:ext uri="{FF2B5EF4-FFF2-40B4-BE49-F238E27FC236}">
                <a16:creationId xmlns:a16="http://schemas.microsoft.com/office/drawing/2014/main" id="{25E737ED-C074-409E-A737-BAB908F477FA}"/>
              </a:ext>
            </a:extLst>
          </p:cNvPr>
          <p:cNvSpPr>
            <a:spLocks xmlns:a="http://schemas.openxmlformats.org/drawingml/2006/main" noGrp="1"/>
          </p:cNvSpPr>
          <p:nvPr/>
        </p:nvSpPr>
        <p:spPr>
          <a:xfrm xmlns:a="http://schemas.openxmlformats.org/drawingml/2006/main">
            <a:off x="8210550" y="315277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23" name="">
            <a:extLst xmlns:a="http://schemas.openxmlformats.org/drawingml/2006/main">
              <a:ext uri="{FF2B5EF4-FFF2-40B4-BE49-F238E27FC236}">
                <a16:creationId xmlns:a16="http://schemas.microsoft.com/office/drawing/2014/main" id="{E50699D6-E9C4-4C30-AFFE-38E6E0AD3464}"/>
              </a:ext>
            </a:extLst>
          </p:cNvPr>
          <p:cNvSpPr>
            <a:spLocks xmlns:a="http://schemas.openxmlformats.org/drawingml/2006/main" noGrp="1"/>
          </p:cNvSpPr>
          <p:nvPr/>
        </p:nvSpPr>
        <p:spPr>
          <a:xfrm xmlns:a="http://schemas.openxmlformats.org/drawingml/2006/main">
            <a:off x="8782050" y="30670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7201C"/>
                </a:solidFill>
              </a:defRPr>
            </a:pPr>
            <a:r>
              <a:rPr sz="1575" b="1">
                <a:solidFill>
                  <a:srgbClr val="17201C"/>
                </a:solidFill>
              </a:rPr>
              <a:t>DX</a:t>
            </a:r>
          </a:p>
        </p:txBody>
      </p:sp>
      <p:sp>
        <p:nvSpPr>
          <p:cNvPr id="24" name="">
            <a:extLst xmlns:a="http://schemas.openxmlformats.org/drawingml/2006/main">
              <a:ext uri="{FF2B5EF4-FFF2-40B4-BE49-F238E27FC236}">
                <a16:creationId xmlns:a16="http://schemas.microsoft.com/office/drawing/2014/main" id="{5F9AE6A9-D7EA-4DCD-919F-D655DBC4FD81}"/>
              </a:ext>
            </a:extLst>
          </p:cNvPr>
          <p:cNvSpPr>
            <a:spLocks xmlns:a="http://schemas.openxmlformats.org/drawingml/2006/main" noGrp="1"/>
          </p:cNvSpPr>
          <p:nvPr/>
        </p:nvSpPr>
        <p:spPr>
          <a:xfrm xmlns:a="http://schemas.openxmlformats.org/drawingml/2006/main">
            <a:off x="8324850" y="363855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17201C"/>
                </a:solidFill>
              </a:defRPr>
            </a:pPr>
            <a:r>
              <a:rPr sz="1650" b="0">
                <a:solidFill>
                  <a:srgbClr val="17201C"/>
                </a:solidFill>
              </a:rPr>
              <a:t>研究室・全学の</a:t>
            </a:r>
          </a:p>
          <a:p xmlns:a="http://schemas.openxmlformats.org/drawingml/2006/main">
            <a:pPr algn="ctr">
              <a:defRPr sz="1650" b="0">
                <a:solidFill>
                  <a:srgbClr val="17201C"/>
                </a:solidFill>
              </a:defRPr>
            </a:pPr>
            <a:r>
              <a:rPr sz="1650" b="0">
                <a:solidFill>
                  <a:srgbClr val="17201C"/>
                </a:solidFill>
              </a:rPr>
              <a:t>管理の仕組みを変える</a:t>
            </a:r>
          </a:p>
        </p:txBody>
      </p:sp>
      <p:sp>
        <p:nvSpPr>
          <p:cNvPr id="25" name="">
            <a:extLst xmlns:a="http://schemas.openxmlformats.org/drawingml/2006/main">
              <a:ext uri="{FF2B5EF4-FFF2-40B4-BE49-F238E27FC236}">
                <a16:creationId xmlns:a16="http://schemas.microsoft.com/office/drawing/2014/main" id="{8A914983-4346-433E-A29C-C495B53168DC}"/>
              </a:ext>
            </a:extLst>
          </p:cNvPr>
          <p:cNvSpPr>
            <a:spLocks xmlns:a="http://schemas.openxmlformats.org/drawingml/2006/main" noGrp="1"/>
          </p:cNvSpPr>
          <p:nvPr/>
        </p:nvSpPr>
        <p:spPr>
          <a:xfrm xmlns:a="http://schemas.openxmlformats.org/drawingml/2006/main">
            <a:off x="8705850" y="4419600"/>
            <a:ext cx="1428750" cy="323850"/>
          </a:xfrm>
          <a:prstGeom xmlns:a="http://schemas.openxmlformats.org/drawingml/2006/main" prst="roundRect">
            <a:avLst>
              <a:gd name="adj" fmla="val 50000"/>
            </a:avLst>
          </a:prstGeom>
          <a:solidFill xmlns:a="http://schemas.openxmlformats.org/drawingml/2006/main">
            <a:srgbClr val="EFF4F1"/>
          </a:solidFill>
          <a:ln xmlns:a="http://schemas.openxmlformats.org/drawingml/2006/main" w="9525">
            <a:solidFill>
              <a:srgbClr val="B7D9CD"/>
            </a:solidFill>
            <a:prstDash val="solid"/>
          </a:ln>
        </p:spPr>
      </p:sp>
      <p:sp>
        <p:nvSpPr>
          <p:cNvPr id="26" name="">
            <a:extLst xmlns:a="http://schemas.openxmlformats.org/drawingml/2006/main">
              <a:ext uri="{FF2B5EF4-FFF2-40B4-BE49-F238E27FC236}">
                <a16:creationId xmlns:a16="http://schemas.microsoft.com/office/drawing/2014/main" id="{B5D1A3D9-76BB-48DC-A948-A0765FF43D21}"/>
              </a:ext>
            </a:extLst>
          </p:cNvPr>
          <p:cNvSpPr>
            <a:spLocks xmlns:a="http://schemas.openxmlformats.org/drawingml/2006/main" noGrp="1"/>
          </p:cNvSpPr>
          <p:nvPr/>
        </p:nvSpPr>
        <p:spPr>
          <a:xfrm xmlns:a="http://schemas.openxmlformats.org/drawingml/2006/main">
            <a:off x="8858250" y="447675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5B6661"/>
                </a:solidFill>
              </a:defRPr>
            </a:pPr>
            <a:r>
              <a:rPr sz="975" b="1">
                <a:solidFill>
                  <a:srgbClr val="5B6661"/>
                </a:solidFill>
              </a:rPr>
              <a:t>長期構想</a:t>
            </a:r>
          </a:p>
        </p:txBody>
      </p:sp>
      <p:sp>
        <p:nvSpPr>
          <p:cNvPr id="27" name="">
            <a:extLst xmlns:a="http://schemas.openxmlformats.org/drawingml/2006/main">
              <a:ext uri="{FF2B5EF4-FFF2-40B4-BE49-F238E27FC236}">
                <a16:creationId xmlns:a16="http://schemas.microsoft.com/office/drawing/2014/main" id="{C2491D96-4AE8-498F-97CB-232573A1968B}"/>
              </a:ext>
            </a:extLst>
          </p:cNvPr>
          <p:cNvSpPr>
            <a:spLocks xmlns:a="http://schemas.openxmlformats.org/drawingml/2006/main" noGrp="1"/>
          </p:cNvSpPr>
          <p:nvPr/>
        </p:nvSpPr>
        <p:spPr>
          <a:xfrm xmlns:a="http://schemas.openxmlformats.org/drawingml/2006/main">
            <a:off x="1619250" y="546735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2E6B58"/>
                </a:solidFill>
              </a:defRPr>
            </a:pPr>
            <a:r>
              <a:rPr sz="2250" b="1">
                <a:solidFill>
                  <a:srgbClr val="2E6B58"/>
                </a:solidFill>
              </a:rPr>
              <a:t>記録するシステムから、判断を支援するシステムへ</a:t>
            </a:r>
          </a:p>
        </p:txBody>
      </p:sp>
      <p:sp>
        <p:nvSpPr>
          <p:cNvPr id="28" name="">
            <a:extLst xmlns:a="http://schemas.openxmlformats.org/drawingml/2006/main">
              <a:ext uri="{FF2B5EF4-FFF2-40B4-BE49-F238E27FC236}">
                <a16:creationId xmlns:a16="http://schemas.microsoft.com/office/drawing/2014/main" id="{49C0EFAC-0A1A-4BE1-A332-57E91E18CB82}"/>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05</a:t>
            </a:r>
          </a:p>
        </p:txBody>
      </p:sp>
      <p:sp>
        <p:nvSpPr>
          <p:cNvPr id="29" name="">
            <a:extLst xmlns:a="http://schemas.openxmlformats.org/drawingml/2006/main">
              <a:ext uri="{FF2B5EF4-FFF2-40B4-BE49-F238E27FC236}">
                <a16:creationId xmlns:a16="http://schemas.microsoft.com/office/drawing/2014/main" id="{F95492E9-869C-4040-8A99-155A3E4A8936}"/>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346695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3EA2EF-BD44-402E-A63F-A898D6EE1CF4}"/>
              </a:ext>
            </a:extLst>
          </p:cNvPr>
          <p:cNvSpPr>
            <a:spLocks xmlns:a="http://schemas.openxmlformats.org/drawingml/2006/main" noGrp="1"/>
          </p:cNvSpPr>
          <p:nvPr/>
        </p:nvSpPr>
        <p:spPr>
          <a:xfrm xmlns:a="http://schemas.openxmlformats.org/drawingml/2006/main">
            <a:off x="68580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進捗</a:t>
            </a:r>
          </a:p>
        </p:txBody>
      </p:sp>
      <p:sp>
        <p:nvSpPr>
          <p:cNvPr id="2" name="">
            <a:extLst xmlns:a="http://schemas.openxmlformats.org/drawingml/2006/main">
              <a:ext uri="{FF2B5EF4-FFF2-40B4-BE49-F238E27FC236}">
                <a16:creationId xmlns:a16="http://schemas.microsoft.com/office/drawing/2014/main" id="{8BEBDF54-3F97-49E6-B655-D40973846844}"/>
              </a:ext>
            </a:extLst>
          </p:cNvPr>
          <p:cNvSpPr>
            <a:spLocks xmlns:a="http://schemas.openxmlformats.org/drawingml/2006/main" noGrp="1"/>
          </p:cNvSpPr>
          <p:nvPr/>
        </p:nvSpPr>
        <p:spPr>
          <a:xfrm xmlns:a="http://schemas.openxmlformats.org/drawingml/2006/main">
            <a:off x="685800" y="7239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01C"/>
                </a:solidFill>
              </a:defRPr>
            </a:pPr>
            <a:r>
              <a:rPr sz="2700" b="1">
                <a:solidFill>
                  <a:srgbClr val="17201C"/>
                </a:solidFill>
              </a:rPr>
              <a:t>要件定義では、実装に入るための条件を揃えた</a:t>
            </a:r>
          </a:p>
        </p:txBody>
      </p:sp>
      <p:sp>
        <p:nvSpPr>
          <p:cNvPr id="3" name="">
            <a:extLst xmlns:a="http://schemas.openxmlformats.org/drawingml/2006/main">
              <a:ext uri="{FF2B5EF4-FFF2-40B4-BE49-F238E27FC236}">
                <a16:creationId xmlns:a16="http://schemas.microsoft.com/office/drawing/2014/main" id="{CF003655-7E65-4F85-809B-734D610B0A7E}"/>
              </a:ext>
            </a:extLst>
          </p:cNvPr>
          <p:cNvSpPr>
            <a:spLocks xmlns:a="http://schemas.openxmlformats.org/drawingml/2006/main" noGrp="1"/>
          </p:cNvSpPr>
          <p:nvPr/>
        </p:nvSpPr>
        <p:spPr>
          <a:xfrm xmlns:a="http://schemas.openxmlformats.org/drawingml/2006/main">
            <a:off x="723900" y="1466850"/>
            <a:ext cx="923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B6661"/>
                </a:solidFill>
              </a:defRPr>
            </a:pPr>
            <a:r>
              <a:rPr sz="1650" b="0">
                <a:solidFill>
                  <a:srgbClr val="5B6661"/>
                </a:solidFill>
              </a:rPr>
              <a:t>今年度の中間時点では、DXコア機能を実装するために、要求を機能・データ・画面・遷移へ分解して整理した。</a:t>
            </a:r>
          </a:p>
        </p:txBody>
      </p:sp>
      <p:sp>
        <p:nvSpPr>
          <p:cNvPr id="4" name="">
            <a:extLst xmlns:a="http://schemas.openxmlformats.org/drawingml/2006/main">
              <a:ext uri="{FF2B5EF4-FFF2-40B4-BE49-F238E27FC236}">
                <a16:creationId xmlns:a16="http://schemas.microsoft.com/office/drawing/2014/main" id="{F66F1CAA-BCCE-4F3F-A2B3-C8FF2DD39901}"/>
              </a:ext>
            </a:extLst>
          </p:cNvPr>
          <p:cNvSpPr>
            <a:spLocks xmlns:a="http://schemas.openxmlformats.org/drawingml/2006/main" noGrp="1"/>
          </p:cNvSpPr>
          <p:nvPr/>
        </p:nvSpPr>
        <p:spPr>
          <a:xfrm xmlns:a="http://schemas.openxmlformats.org/drawingml/2006/main">
            <a:off x="742950" y="2571750"/>
            <a:ext cx="3238500" cy="1066800"/>
          </a:xfrm>
          <a:prstGeom xmlns:a="http://schemas.openxmlformats.org/drawingml/2006/main" prst="roundRect">
            <a:avLst>
              <a:gd name="adj" fmla="val 10714"/>
            </a:avLst>
          </a:prstGeom>
          <a:solidFill xmlns:a="http://schemas.openxmlformats.org/drawingml/2006/main">
            <a:srgbClr val="E8F6F0"/>
          </a:solidFill>
          <a:ln xmlns:a="http://schemas.openxmlformats.org/drawingml/2006/main" w="9525">
            <a:solidFill>
              <a:srgbClr val="C9DED6"/>
            </a:solidFill>
            <a:prstDash val="solid"/>
          </a:ln>
        </p:spPr>
      </p:sp>
      <p:sp>
        <p:nvSpPr>
          <p:cNvPr id="5" name="">
            <a:extLst xmlns:a="http://schemas.openxmlformats.org/drawingml/2006/main">
              <a:ext uri="{FF2B5EF4-FFF2-40B4-BE49-F238E27FC236}">
                <a16:creationId xmlns:a16="http://schemas.microsoft.com/office/drawing/2014/main" id="{D6AEAC9D-2ED7-45D1-96C7-5EECA5323845}"/>
              </a:ext>
            </a:extLst>
          </p:cNvPr>
          <p:cNvSpPr>
            <a:spLocks xmlns:a="http://schemas.openxmlformats.org/drawingml/2006/main" noGrp="1"/>
          </p:cNvSpPr>
          <p:nvPr/>
        </p:nvSpPr>
        <p:spPr>
          <a:xfrm xmlns:a="http://schemas.openxmlformats.org/drawingml/2006/main">
            <a:off x="990600" y="27813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2E6B58"/>
                </a:solidFill>
              </a:defRPr>
            </a:pPr>
            <a:r>
              <a:rPr sz="1725" b="1">
                <a:solidFill>
                  <a:srgbClr val="2E6B58"/>
                </a:solidFill>
              </a:rPr>
              <a:t>機能要件</a:t>
            </a:r>
          </a:p>
        </p:txBody>
      </p:sp>
      <p:sp>
        <p:nvSpPr>
          <p:cNvPr id="6" name="">
            <a:extLst xmlns:a="http://schemas.openxmlformats.org/drawingml/2006/main">
              <a:ext uri="{FF2B5EF4-FFF2-40B4-BE49-F238E27FC236}">
                <a16:creationId xmlns:a16="http://schemas.microsoft.com/office/drawing/2014/main" id="{74EF56F1-08E6-4B87-9649-EEF88BB8FBE8}"/>
              </a:ext>
            </a:extLst>
          </p:cNvPr>
          <p:cNvSpPr>
            <a:spLocks xmlns:a="http://schemas.openxmlformats.org/drawingml/2006/main" noGrp="1"/>
          </p:cNvSpPr>
          <p:nvPr/>
        </p:nvSpPr>
        <p:spPr>
          <a:xfrm xmlns:a="http://schemas.openxmlformats.org/drawingml/2006/main">
            <a:off x="990600" y="31242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661"/>
                </a:solidFill>
              </a:defRPr>
            </a:pPr>
            <a:r>
              <a:rPr sz="1275" b="0">
                <a:solidFill>
                  <a:srgbClr val="5B6661"/>
                </a:solidFill>
              </a:rPr>
              <a:t>何を判定し、誰に表示・通知するか</a:t>
            </a:r>
          </a:p>
        </p:txBody>
      </p:sp>
      <p:sp>
        <p:nvSpPr>
          <p:cNvPr id="7" name="">
            <a:extLst xmlns:a="http://schemas.openxmlformats.org/drawingml/2006/main">
              <a:ext uri="{FF2B5EF4-FFF2-40B4-BE49-F238E27FC236}">
                <a16:creationId xmlns:a16="http://schemas.microsoft.com/office/drawing/2014/main" id="{7FD84304-D86B-4536-9B56-4005D27111E4}"/>
              </a:ext>
            </a:extLst>
          </p:cNvPr>
          <p:cNvSpPr>
            <a:spLocks xmlns:a="http://schemas.openxmlformats.org/drawingml/2006/main" noGrp="1"/>
          </p:cNvSpPr>
          <p:nvPr/>
        </p:nvSpPr>
        <p:spPr>
          <a:xfrm xmlns:a="http://schemas.openxmlformats.org/drawingml/2006/main">
            <a:off x="4457700" y="2571750"/>
            <a:ext cx="3238500" cy="1066800"/>
          </a:xfrm>
          <a:prstGeom xmlns:a="http://schemas.openxmlformats.org/drawingml/2006/main" prst="roundRect">
            <a:avLst>
              <a:gd name="adj" fmla="val 10714"/>
            </a:avLst>
          </a:prstGeom>
          <a:solidFill xmlns:a="http://schemas.openxmlformats.org/drawingml/2006/main">
            <a:srgbClr val="FAFCFB"/>
          </a:solidFill>
          <a:ln xmlns:a="http://schemas.openxmlformats.org/drawingml/2006/main" w="9525">
            <a:solidFill>
              <a:srgbClr val="C9DED6"/>
            </a:solidFill>
            <a:prstDash val="solid"/>
          </a:ln>
        </p:spPr>
      </p:sp>
      <p:sp>
        <p:nvSpPr>
          <p:cNvPr id="8" name="">
            <a:extLst xmlns:a="http://schemas.openxmlformats.org/drawingml/2006/main">
              <a:ext uri="{FF2B5EF4-FFF2-40B4-BE49-F238E27FC236}">
                <a16:creationId xmlns:a16="http://schemas.microsoft.com/office/drawing/2014/main" id="{33756C17-274F-40B3-B7BB-3A2E484AFE9E}"/>
              </a:ext>
            </a:extLst>
          </p:cNvPr>
          <p:cNvSpPr>
            <a:spLocks xmlns:a="http://schemas.openxmlformats.org/drawingml/2006/main" noGrp="1"/>
          </p:cNvSpPr>
          <p:nvPr/>
        </p:nvSpPr>
        <p:spPr>
          <a:xfrm xmlns:a="http://schemas.openxmlformats.org/drawingml/2006/main">
            <a:off x="4705350" y="27813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2E6B58"/>
                </a:solidFill>
              </a:defRPr>
            </a:pPr>
            <a:r>
              <a:rPr sz="1725" b="1">
                <a:solidFill>
                  <a:srgbClr val="2E6B58"/>
                </a:solidFill>
              </a:rPr>
              <a:t>データ設計</a:t>
            </a:r>
          </a:p>
        </p:txBody>
      </p:sp>
      <p:sp>
        <p:nvSpPr>
          <p:cNvPr id="9" name="">
            <a:extLst xmlns:a="http://schemas.openxmlformats.org/drawingml/2006/main">
              <a:ext uri="{FF2B5EF4-FFF2-40B4-BE49-F238E27FC236}">
                <a16:creationId xmlns:a16="http://schemas.microsoft.com/office/drawing/2014/main" id="{E0686718-90DE-4D6E-AAA0-1064B5BDFC6B}"/>
              </a:ext>
            </a:extLst>
          </p:cNvPr>
          <p:cNvSpPr>
            <a:spLocks xmlns:a="http://schemas.openxmlformats.org/drawingml/2006/main" noGrp="1"/>
          </p:cNvSpPr>
          <p:nvPr/>
        </p:nvSpPr>
        <p:spPr>
          <a:xfrm xmlns:a="http://schemas.openxmlformats.org/drawingml/2006/main">
            <a:off x="4705350" y="31242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661"/>
                </a:solidFill>
              </a:defRPr>
            </a:pPr>
            <a:r>
              <a:rPr sz="1275" b="0">
                <a:solidFill>
                  <a:srgbClr val="5B6661"/>
                </a:solidFill>
              </a:rPr>
              <a:t>指定数量・通知・設定値をどこに持つか</a:t>
            </a:r>
          </a:p>
        </p:txBody>
      </p:sp>
      <p:sp>
        <p:nvSpPr>
          <p:cNvPr id="10" name="">
            <a:extLst xmlns:a="http://schemas.openxmlformats.org/drawingml/2006/main">
              <a:ext uri="{FF2B5EF4-FFF2-40B4-BE49-F238E27FC236}">
                <a16:creationId xmlns:a16="http://schemas.microsoft.com/office/drawing/2014/main" id="{60D6A781-6C52-4B7E-B39A-8A6E3E088C97}"/>
              </a:ext>
            </a:extLst>
          </p:cNvPr>
          <p:cNvSpPr>
            <a:spLocks xmlns:a="http://schemas.openxmlformats.org/drawingml/2006/main" noGrp="1"/>
          </p:cNvSpPr>
          <p:nvPr/>
        </p:nvSpPr>
        <p:spPr>
          <a:xfrm xmlns:a="http://schemas.openxmlformats.org/drawingml/2006/main">
            <a:off x="742950" y="4000500"/>
            <a:ext cx="3238500" cy="1066800"/>
          </a:xfrm>
          <a:prstGeom xmlns:a="http://schemas.openxmlformats.org/drawingml/2006/main" prst="roundRect">
            <a:avLst>
              <a:gd name="adj" fmla="val 10714"/>
            </a:avLst>
          </a:prstGeom>
          <a:solidFill xmlns:a="http://schemas.openxmlformats.org/drawingml/2006/main">
            <a:srgbClr val="FAFCFB"/>
          </a:solidFill>
          <a:ln xmlns:a="http://schemas.openxmlformats.org/drawingml/2006/main" w="9525">
            <a:solidFill>
              <a:srgbClr val="C9DED6"/>
            </a:solidFill>
            <a:prstDash val="solid"/>
          </a:ln>
        </p:spPr>
      </p:sp>
      <p:sp>
        <p:nvSpPr>
          <p:cNvPr id="11" name="">
            <a:extLst xmlns:a="http://schemas.openxmlformats.org/drawingml/2006/main">
              <a:ext uri="{FF2B5EF4-FFF2-40B4-BE49-F238E27FC236}">
                <a16:creationId xmlns:a16="http://schemas.microsoft.com/office/drawing/2014/main" id="{405132D4-8A68-4831-BA48-51BF9B7E2747}"/>
              </a:ext>
            </a:extLst>
          </p:cNvPr>
          <p:cNvSpPr>
            <a:spLocks xmlns:a="http://schemas.openxmlformats.org/drawingml/2006/main" noGrp="1"/>
          </p:cNvSpPr>
          <p:nvPr/>
        </p:nvSpPr>
        <p:spPr>
          <a:xfrm xmlns:a="http://schemas.openxmlformats.org/drawingml/2006/main">
            <a:off x="990600" y="42100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2E6B58"/>
                </a:solidFill>
              </a:defRPr>
            </a:pPr>
            <a:r>
              <a:rPr sz="1725" b="1">
                <a:solidFill>
                  <a:srgbClr val="2E6B58"/>
                </a:solidFill>
              </a:rPr>
              <a:t>画面設計</a:t>
            </a:r>
          </a:p>
        </p:txBody>
      </p:sp>
      <p:sp>
        <p:nvSpPr>
          <p:cNvPr id="12" name="">
            <a:extLst xmlns:a="http://schemas.openxmlformats.org/drawingml/2006/main">
              <a:ext uri="{FF2B5EF4-FFF2-40B4-BE49-F238E27FC236}">
                <a16:creationId xmlns:a16="http://schemas.microsoft.com/office/drawing/2014/main" id="{C24389AD-593A-422F-B83E-0ED57805C6B6}"/>
              </a:ext>
            </a:extLst>
          </p:cNvPr>
          <p:cNvSpPr>
            <a:spLocks xmlns:a="http://schemas.openxmlformats.org/drawingml/2006/main" noGrp="1"/>
          </p:cNvSpPr>
          <p:nvPr/>
        </p:nvSpPr>
        <p:spPr>
          <a:xfrm xmlns:a="http://schemas.openxmlformats.org/drawingml/2006/main">
            <a:off x="990600" y="45529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661"/>
                </a:solidFill>
              </a:defRPr>
            </a:pPr>
            <a:r>
              <a:rPr sz="1275" b="0">
                <a:solidFill>
                  <a:srgbClr val="5B6661"/>
                </a:solidFill>
              </a:rPr>
              <a:t>既存画面にどの差分を追加するか</a:t>
            </a:r>
          </a:p>
        </p:txBody>
      </p:sp>
      <p:sp>
        <p:nvSpPr>
          <p:cNvPr id="13" name="">
            <a:extLst xmlns:a="http://schemas.openxmlformats.org/drawingml/2006/main">
              <a:ext uri="{FF2B5EF4-FFF2-40B4-BE49-F238E27FC236}">
                <a16:creationId xmlns:a16="http://schemas.microsoft.com/office/drawing/2014/main" id="{3A65B912-91CF-4884-BB18-7C8D5FA54A1E}"/>
              </a:ext>
            </a:extLst>
          </p:cNvPr>
          <p:cNvSpPr>
            <a:spLocks xmlns:a="http://schemas.openxmlformats.org/drawingml/2006/main" noGrp="1"/>
          </p:cNvSpPr>
          <p:nvPr/>
        </p:nvSpPr>
        <p:spPr>
          <a:xfrm xmlns:a="http://schemas.openxmlformats.org/drawingml/2006/main">
            <a:off x="4457700" y="4000500"/>
            <a:ext cx="3238500" cy="1066800"/>
          </a:xfrm>
          <a:prstGeom xmlns:a="http://schemas.openxmlformats.org/drawingml/2006/main" prst="roundRect">
            <a:avLst>
              <a:gd name="adj" fmla="val 10714"/>
            </a:avLst>
          </a:prstGeom>
          <a:solidFill xmlns:a="http://schemas.openxmlformats.org/drawingml/2006/main">
            <a:srgbClr val="FAFCFB"/>
          </a:solidFill>
          <a:ln xmlns:a="http://schemas.openxmlformats.org/drawingml/2006/main" w="9525">
            <a:solidFill>
              <a:srgbClr val="C9DED6"/>
            </a:solidFill>
            <a:prstDash val="solid"/>
          </a:ln>
        </p:spPr>
      </p:sp>
      <p:sp>
        <p:nvSpPr>
          <p:cNvPr id="14" name="">
            <a:extLst xmlns:a="http://schemas.openxmlformats.org/drawingml/2006/main">
              <a:ext uri="{FF2B5EF4-FFF2-40B4-BE49-F238E27FC236}">
                <a16:creationId xmlns:a16="http://schemas.microsoft.com/office/drawing/2014/main" id="{D14FC22E-332F-420C-A279-1CE39A9FBF8A}"/>
              </a:ext>
            </a:extLst>
          </p:cNvPr>
          <p:cNvSpPr>
            <a:spLocks xmlns:a="http://schemas.openxmlformats.org/drawingml/2006/main" noGrp="1"/>
          </p:cNvSpPr>
          <p:nvPr/>
        </p:nvSpPr>
        <p:spPr>
          <a:xfrm xmlns:a="http://schemas.openxmlformats.org/drawingml/2006/main">
            <a:off x="4705350" y="42100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2E6B58"/>
                </a:solidFill>
              </a:defRPr>
            </a:pPr>
            <a:r>
              <a:rPr sz="1725" b="1">
                <a:solidFill>
                  <a:srgbClr val="2E6B58"/>
                </a:solidFill>
              </a:rPr>
              <a:t>画面遷移</a:t>
            </a:r>
          </a:p>
        </p:txBody>
      </p:sp>
      <p:sp>
        <p:nvSpPr>
          <p:cNvPr id="15" name="">
            <a:extLst xmlns:a="http://schemas.openxmlformats.org/drawingml/2006/main">
              <a:ext uri="{FF2B5EF4-FFF2-40B4-BE49-F238E27FC236}">
                <a16:creationId xmlns:a16="http://schemas.microsoft.com/office/drawing/2014/main" id="{B33BE6A2-4E9A-400C-8F7C-D095DFB19BA2}"/>
              </a:ext>
            </a:extLst>
          </p:cNvPr>
          <p:cNvSpPr>
            <a:spLocks xmlns:a="http://schemas.openxmlformats.org/drawingml/2006/main" noGrp="1"/>
          </p:cNvSpPr>
          <p:nvPr/>
        </p:nvSpPr>
        <p:spPr>
          <a:xfrm xmlns:a="http://schemas.openxmlformats.org/drawingml/2006/main">
            <a:off x="4705350" y="45529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661"/>
                </a:solidFill>
              </a:defRPr>
            </a:pPr>
            <a:r>
              <a:rPr sz="1275" b="0">
                <a:solidFill>
                  <a:srgbClr val="5B6661"/>
                </a:solidFill>
              </a:rPr>
              <a:t>既存フローを壊さずどこに接続するか</a:t>
            </a:r>
          </a:p>
        </p:txBody>
      </p:sp>
      <p:sp>
        <p:nvSpPr>
          <p:cNvPr id="16" name="">
            <a:extLst xmlns:a="http://schemas.openxmlformats.org/drawingml/2006/main">
              <a:ext uri="{FF2B5EF4-FFF2-40B4-BE49-F238E27FC236}">
                <a16:creationId xmlns:a16="http://schemas.microsoft.com/office/drawing/2014/main" id="{2455C180-3BA3-41F7-952F-CB47539B5C0E}"/>
              </a:ext>
            </a:extLst>
          </p:cNvPr>
          <p:cNvSpPr>
            <a:spLocks xmlns:a="http://schemas.openxmlformats.org/drawingml/2006/main" noGrp="1"/>
          </p:cNvSpPr>
          <p:nvPr/>
        </p:nvSpPr>
        <p:spPr>
          <a:xfrm xmlns:a="http://schemas.openxmlformats.org/drawingml/2006/main">
            <a:off x="8239125" y="2381250"/>
            <a:ext cx="2266950" cy="2857500"/>
          </a:xfrm>
          <a:prstGeom xmlns:a="http://schemas.openxmlformats.org/drawingml/2006/main" prst="roundRect">
            <a:avLst>
              <a:gd name="adj" fmla="val 5042"/>
            </a:avLst>
          </a:prstGeom>
          <a:solidFill xmlns:a="http://schemas.openxmlformats.org/drawingml/2006/main">
            <a:srgbClr val="F4FBF7"/>
          </a:solidFill>
          <a:ln xmlns:a="http://schemas.openxmlformats.org/drawingml/2006/main" w="9525">
            <a:solidFill>
              <a:srgbClr val="BFE0D5"/>
            </a:solidFill>
            <a:prstDash val="solid"/>
          </a:ln>
        </p:spPr>
      </p:sp>
      <p:sp>
        <p:nvSpPr>
          <p:cNvPr id="17" name="">
            <a:extLst xmlns:a="http://schemas.openxmlformats.org/drawingml/2006/main">
              <a:ext uri="{FF2B5EF4-FFF2-40B4-BE49-F238E27FC236}">
                <a16:creationId xmlns:a16="http://schemas.microsoft.com/office/drawing/2014/main" id="{B9A918C5-4631-4CFF-9017-B4E3082F4447}"/>
              </a:ext>
            </a:extLst>
          </p:cNvPr>
          <p:cNvSpPr>
            <a:spLocks xmlns:a="http://schemas.openxmlformats.org/drawingml/2006/main" noGrp="1"/>
          </p:cNvSpPr>
          <p:nvPr/>
        </p:nvSpPr>
        <p:spPr>
          <a:xfrm xmlns:a="http://schemas.openxmlformats.org/drawingml/2006/main">
            <a:off x="8763000" y="2571750"/>
            <a:ext cx="1219200" cy="2514600"/>
          </a:xfrm>
          <a:prstGeom xmlns:a="http://schemas.openxmlformats.org/drawingml/2006/main" prst="roundRect">
            <a:avLst>
              <a:gd name="adj" fmla="val 6250"/>
            </a:avLst>
          </a:prstGeom>
          <a:solidFill xmlns:a="http://schemas.openxmlformats.org/drawingml/2006/main">
            <a:srgbClr val="E8F6F0"/>
          </a:solidFill>
          <a:ln xmlns:a="http://schemas.openxmlformats.org/drawingml/2006/main" w="9525">
            <a:solidFill>
              <a:srgbClr val="A9DCCF"/>
            </a:solidFill>
            <a:prstDash val="solid"/>
          </a:ln>
        </p:spPr>
      </p:sp>
      <p:sp>
        <p:nvSpPr>
          <p:cNvPr id="18" name="">
            <a:extLst xmlns:a="http://schemas.openxmlformats.org/drawingml/2006/main">
              <a:ext uri="{FF2B5EF4-FFF2-40B4-BE49-F238E27FC236}">
                <a16:creationId xmlns:a16="http://schemas.microsoft.com/office/drawing/2014/main" id="{7E96D8F9-32E2-4318-9841-32EA49A69ED7}"/>
              </a:ext>
            </a:extLst>
          </p:cNvPr>
          <p:cNvSpPr>
            <a:spLocks xmlns:a="http://schemas.openxmlformats.org/drawingml/2006/main" noGrp="1"/>
          </p:cNvSpPr>
          <p:nvPr/>
        </p:nvSpPr>
        <p:spPr>
          <a:xfrm xmlns:a="http://schemas.openxmlformats.org/drawingml/2006/main">
            <a:off x="8763000" y="2895600"/>
            <a:ext cx="1219200" cy="9525"/>
          </a:xfrm>
          <a:prstGeom xmlns:a="http://schemas.openxmlformats.org/drawingml/2006/main" prst="rect">
            <a:avLst/>
          </a:prstGeom>
          <a:solidFill xmlns:a="http://schemas.openxmlformats.org/drawingml/2006/main">
            <a:srgbClr val="78BCA8"/>
          </a:solidFill>
          <a:ln xmlns:a="http://schemas.openxmlformats.org/drawingml/2006/main" w="0">
            <a:solidFill>
              <a:srgbClr val="78BCA8"/>
            </a:solidFill>
            <a:prstDash val="solid"/>
          </a:ln>
        </p:spPr>
      </p:sp>
      <p:sp>
        <p:nvSpPr>
          <p:cNvPr id="19" name="">
            <a:extLst xmlns:a="http://schemas.openxmlformats.org/drawingml/2006/main">
              <a:ext uri="{FF2B5EF4-FFF2-40B4-BE49-F238E27FC236}">
                <a16:creationId xmlns:a16="http://schemas.microsoft.com/office/drawing/2014/main" id="{96F989C1-AB7A-444F-80CB-878F8DFE90B9}"/>
              </a:ext>
            </a:extLst>
          </p:cNvPr>
          <p:cNvSpPr>
            <a:spLocks xmlns:a="http://schemas.openxmlformats.org/drawingml/2006/main" noGrp="1"/>
          </p:cNvSpPr>
          <p:nvPr/>
        </p:nvSpPr>
        <p:spPr>
          <a:xfrm xmlns:a="http://schemas.openxmlformats.org/drawingml/2006/main">
            <a:off x="8896350" y="27051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7201C"/>
                </a:solidFill>
              </a:defRPr>
            </a:pPr>
            <a:r>
              <a:rPr sz="1050" b="1">
                <a:solidFill>
                  <a:srgbClr val="17201C"/>
                </a:solidFill>
              </a:rPr>
              <a:t>グラフ</a:t>
            </a:r>
          </a:p>
        </p:txBody>
      </p:sp>
      <p:sp>
        <p:nvSpPr>
          <p:cNvPr id="20" name="">
            <a:extLst xmlns:a="http://schemas.openxmlformats.org/drawingml/2006/main">
              <a:ext uri="{FF2B5EF4-FFF2-40B4-BE49-F238E27FC236}">
                <a16:creationId xmlns:a16="http://schemas.microsoft.com/office/drawing/2014/main" id="{0AB53E4D-6904-455F-A925-B111C2D7B19E}"/>
              </a:ext>
            </a:extLst>
          </p:cNvPr>
          <p:cNvSpPr>
            <a:spLocks xmlns:a="http://schemas.openxmlformats.org/drawingml/2006/main" noGrp="1"/>
          </p:cNvSpPr>
          <p:nvPr/>
        </p:nvSpPr>
        <p:spPr>
          <a:xfrm xmlns:a="http://schemas.openxmlformats.org/drawingml/2006/main">
            <a:off x="8915400" y="3238500"/>
            <a:ext cx="914400" cy="257175"/>
          </a:xfrm>
          <a:prstGeom xmlns:a="http://schemas.openxmlformats.org/drawingml/2006/main" prst="roundRect">
            <a:avLst>
              <a:gd name="adj" fmla="val 7407"/>
            </a:avLst>
          </a:prstGeom>
          <a:solidFill xmlns:a="http://schemas.openxmlformats.org/drawingml/2006/main">
            <a:srgbClr val="0F766E"/>
          </a:solidFill>
          <a:ln xmlns:a="http://schemas.openxmlformats.org/drawingml/2006/main" w="9525">
            <a:solidFill>
              <a:srgbClr val="0F766E"/>
            </a:solidFill>
            <a:prstDash val="solid"/>
          </a:ln>
        </p:spPr>
      </p:sp>
      <p:sp>
        <p:nvSpPr>
          <p:cNvPr id="21" name="">
            <a:extLst xmlns:a="http://schemas.openxmlformats.org/drawingml/2006/main">
              <a:ext uri="{FF2B5EF4-FFF2-40B4-BE49-F238E27FC236}">
                <a16:creationId xmlns:a16="http://schemas.microsoft.com/office/drawing/2014/main" id="{9A508C96-1B07-43B0-A36D-7AF2948CED79}"/>
              </a:ext>
            </a:extLst>
          </p:cNvPr>
          <p:cNvSpPr>
            <a:spLocks xmlns:a="http://schemas.openxmlformats.org/drawingml/2006/main" noGrp="1"/>
          </p:cNvSpPr>
          <p:nvPr/>
        </p:nvSpPr>
        <p:spPr>
          <a:xfrm xmlns:a="http://schemas.openxmlformats.org/drawingml/2006/main">
            <a:off x="8953500" y="3295650"/>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38" b="1">
                <a:solidFill>
                  <a:srgbClr val="FFFFFF"/>
                </a:solidFill>
              </a:defRPr>
            </a:pPr>
            <a:r>
              <a:rPr sz="638" b="1">
                <a:solidFill>
                  <a:srgbClr val="FFFFFF"/>
                </a:solidFill>
              </a:rPr>
              <a:t>残量推移</a:t>
            </a:r>
          </a:p>
        </p:txBody>
      </p:sp>
      <p:sp>
        <p:nvSpPr>
          <p:cNvPr id="22" name="">
            <a:extLst xmlns:a="http://schemas.openxmlformats.org/drawingml/2006/main">
              <a:ext uri="{FF2B5EF4-FFF2-40B4-BE49-F238E27FC236}">
                <a16:creationId xmlns:a16="http://schemas.microsoft.com/office/drawing/2014/main" id="{088F0A7D-D6F3-4556-9F3B-222E2CC27163}"/>
              </a:ext>
            </a:extLst>
          </p:cNvPr>
          <p:cNvSpPr>
            <a:spLocks xmlns:a="http://schemas.openxmlformats.org/drawingml/2006/main" noGrp="1"/>
          </p:cNvSpPr>
          <p:nvPr/>
        </p:nvSpPr>
        <p:spPr>
          <a:xfrm xmlns:a="http://schemas.openxmlformats.org/drawingml/2006/main">
            <a:off x="8915400" y="3638550"/>
            <a:ext cx="914400" cy="2571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BCD4CA"/>
            </a:solidFill>
            <a:prstDash val="solid"/>
          </a:ln>
        </p:spPr>
      </p:sp>
      <p:sp>
        <p:nvSpPr>
          <p:cNvPr id="23" name="">
            <a:extLst xmlns:a="http://schemas.openxmlformats.org/drawingml/2006/main">
              <a:ext uri="{FF2B5EF4-FFF2-40B4-BE49-F238E27FC236}">
                <a16:creationId xmlns:a16="http://schemas.microsoft.com/office/drawing/2014/main" id="{4215FE5A-D0CA-46DD-9951-07E5D3B4AD02}"/>
              </a:ext>
            </a:extLst>
          </p:cNvPr>
          <p:cNvSpPr>
            <a:spLocks xmlns:a="http://schemas.openxmlformats.org/drawingml/2006/main" noGrp="1"/>
          </p:cNvSpPr>
          <p:nvPr/>
        </p:nvSpPr>
        <p:spPr>
          <a:xfrm xmlns:a="http://schemas.openxmlformats.org/drawingml/2006/main">
            <a:off x="8953500" y="3695700"/>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38" b="0">
                <a:solidFill>
                  <a:srgbClr val="17201C"/>
                </a:solidFill>
              </a:defRPr>
            </a:pPr>
            <a:r>
              <a:rPr sz="638" b="0">
                <a:solidFill>
                  <a:srgbClr val="17201C"/>
                </a:solidFill>
              </a:rPr>
              <a:t>予測線</a:t>
            </a:r>
          </a:p>
        </p:txBody>
      </p:sp>
      <p:sp>
        <p:nvSpPr>
          <p:cNvPr id="24" name="">
            <a:extLst xmlns:a="http://schemas.openxmlformats.org/drawingml/2006/main">
              <a:ext uri="{FF2B5EF4-FFF2-40B4-BE49-F238E27FC236}">
                <a16:creationId xmlns:a16="http://schemas.microsoft.com/office/drawing/2014/main" id="{2CD2D20E-0A8E-4B6F-93FB-3DBE7E44718F}"/>
              </a:ext>
            </a:extLst>
          </p:cNvPr>
          <p:cNvSpPr>
            <a:spLocks xmlns:a="http://schemas.openxmlformats.org/drawingml/2006/main" noGrp="1"/>
          </p:cNvSpPr>
          <p:nvPr/>
        </p:nvSpPr>
        <p:spPr>
          <a:xfrm xmlns:a="http://schemas.openxmlformats.org/drawingml/2006/main">
            <a:off x="8915400" y="4038600"/>
            <a:ext cx="914400" cy="2571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BCD4CA"/>
            </a:solidFill>
            <a:prstDash val="solid"/>
          </a:ln>
        </p:spPr>
      </p:sp>
      <p:sp>
        <p:nvSpPr>
          <p:cNvPr id="25" name="">
            <a:extLst xmlns:a="http://schemas.openxmlformats.org/drawingml/2006/main">
              <a:ext uri="{FF2B5EF4-FFF2-40B4-BE49-F238E27FC236}">
                <a16:creationId xmlns:a16="http://schemas.microsoft.com/office/drawing/2014/main" id="{67F93A61-72F6-4928-A555-0A7DA10B4435}"/>
              </a:ext>
            </a:extLst>
          </p:cNvPr>
          <p:cNvSpPr>
            <a:spLocks xmlns:a="http://schemas.openxmlformats.org/drawingml/2006/main" noGrp="1"/>
          </p:cNvSpPr>
          <p:nvPr/>
        </p:nvSpPr>
        <p:spPr>
          <a:xfrm xmlns:a="http://schemas.openxmlformats.org/drawingml/2006/main">
            <a:off x="8953500" y="4095750"/>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38" b="0">
                <a:solidFill>
                  <a:srgbClr val="17201C"/>
                </a:solidFill>
              </a:defRPr>
            </a:pPr>
            <a:r>
              <a:rPr sz="638" b="0">
                <a:solidFill>
                  <a:srgbClr val="17201C"/>
                </a:solidFill>
              </a:rPr>
              <a:t>下限割れ予測</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50599ddeeca04324"/>
          <a:srcRect xmlns:a="http://schemas.openxmlformats.org/drawingml/2006/main" l="0" t="32279" r="0" b="32279"/>
          <a:stretch xmlns:a="http://schemas.openxmlformats.org/drawingml/2006/main">
            <a:fillRect l="0" t="0" r="0" b="0"/>
          </a:stretch>
        </p:blipFill>
        <p:spPr>
          <a:xfrm xmlns:a="http://schemas.openxmlformats.org/drawingml/2006/main">
            <a:off x="8020050" y="5143500"/>
            <a:ext cx="2762250" cy="609600"/>
          </a:xfrm>
          <a:prstGeom xmlns:a="http://schemas.openxmlformats.org/drawingml/2006/main" prst="roundRect">
            <a:avLst>
              <a:gd name="adj" fmla="val 12500"/>
            </a:avLst>
          </a:prstGeom>
        </p:spPr>
      </p:pic>
      <p:sp>
        <p:nvSpPr>
          <p:cNvPr id="27" name="">
            <a:extLst xmlns:a="http://schemas.openxmlformats.org/drawingml/2006/main">
              <a:ext uri="{FF2B5EF4-FFF2-40B4-BE49-F238E27FC236}">
                <a16:creationId xmlns:a16="http://schemas.microsoft.com/office/drawing/2014/main" id="{BA651DD5-481F-4598-A64D-E9D46F252B60}"/>
              </a:ext>
            </a:extLst>
          </p:cNvPr>
          <p:cNvSpPr>
            <a:spLocks xmlns:a="http://schemas.openxmlformats.org/drawingml/2006/main" noGrp="1"/>
          </p:cNvSpPr>
          <p:nvPr/>
        </p:nvSpPr>
        <p:spPr>
          <a:xfrm xmlns:a="http://schemas.openxmlformats.org/drawingml/2006/main">
            <a:off x="7953375" y="5810250"/>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E6B58"/>
                </a:solidFill>
              </a:defRPr>
            </a:pPr>
            <a:r>
              <a:rPr sz="1050" b="1">
                <a:solidFill>
                  <a:srgbClr val="2E6B58"/>
                </a:solidFill>
              </a:rPr>
              <a:t>既存UIのトーンを踏襲し、追加は差分に絞る</a:t>
            </a:r>
          </a:p>
        </p:txBody>
      </p:sp>
      <p:sp>
        <p:nvSpPr>
          <p:cNvPr id="28" name="">
            <a:extLst xmlns:a="http://schemas.openxmlformats.org/drawingml/2006/main">
              <a:ext uri="{FF2B5EF4-FFF2-40B4-BE49-F238E27FC236}">
                <a16:creationId xmlns:a16="http://schemas.microsoft.com/office/drawing/2014/main" id="{F172109F-FD8A-48ED-9387-033D4E2C4DB8}"/>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06</a:t>
            </a:r>
          </a:p>
        </p:txBody>
      </p:sp>
      <p:sp>
        <p:nvSpPr>
          <p:cNvPr id="29" name="">
            <a:extLst xmlns:a="http://schemas.openxmlformats.org/drawingml/2006/main">
              <a:ext uri="{FF2B5EF4-FFF2-40B4-BE49-F238E27FC236}">
                <a16:creationId xmlns:a16="http://schemas.microsoft.com/office/drawing/2014/main" id="{80058F9A-BC38-48CA-B0D2-C6F93F510A3A}"/>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70467088"/>
      </p:ext>
    </p:extLst>
  </p:cSld>
</p:sld>
</file>

<file path=ppt/slides/slide7.xml><?xml version="1.0" encoding="utf-8"?>
<p:sld xmlns:p="http://schemas.openxmlformats.org/presentationml/2006/main">
  <p:cSld>
    <p:bg>
      <p:bgPr>
        <a:solidFill xmlns:a="http://schemas.openxmlformats.org/drawingml/2006/main">
          <a:srgbClr val="F4FB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BC0C8A-5713-4F0A-A062-346880377632}"/>
              </a:ext>
            </a:extLst>
          </p:cNvPr>
          <p:cNvSpPr>
            <a:spLocks xmlns:a="http://schemas.openxmlformats.org/drawingml/2006/main" noGrp="1"/>
          </p:cNvSpPr>
          <p:nvPr/>
        </p:nvSpPr>
        <p:spPr>
          <a:xfrm xmlns:a="http://schemas.openxmlformats.org/drawingml/2006/main">
            <a:off x="68580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DXコア機能</a:t>
            </a:r>
          </a:p>
        </p:txBody>
      </p:sp>
      <p:sp>
        <p:nvSpPr>
          <p:cNvPr id="2" name="">
            <a:extLst xmlns:a="http://schemas.openxmlformats.org/drawingml/2006/main">
              <a:ext uri="{FF2B5EF4-FFF2-40B4-BE49-F238E27FC236}">
                <a16:creationId xmlns:a16="http://schemas.microsoft.com/office/drawing/2014/main" id="{D964EA24-8C34-4F0D-80CC-BE3A5A635E6D}"/>
              </a:ext>
            </a:extLst>
          </p:cNvPr>
          <p:cNvSpPr>
            <a:spLocks xmlns:a="http://schemas.openxmlformats.org/drawingml/2006/main" noGrp="1"/>
          </p:cNvSpPr>
          <p:nvPr/>
        </p:nvSpPr>
        <p:spPr>
          <a:xfrm xmlns:a="http://schemas.openxmlformats.org/drawingml/2006/main">
            <a:off x="685800" y="7239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01C"/>
                </a:solidFill>
              </a:defRPr>
            </a:pPr>
            <a:r>
              <a:rPr sz="2700" b="1">
                <a:solidFill>
                  <a:srgbClr val="17201C"/>
                </a:solidFill>
              </a:rPr>
              <a:t>コア機能は、安全管理と在庫判断の2本柱にした</a:t>
            </a:r>
          </a:p>
        </p:txBody>
      </p:sp>
      <p:sp>
        <p:nvSpPr>
          <p:cNvPr id="3" name="">
            <a:extLst xmlns:a="http://schemas.openxmlformats.org/drawingml/2006/main">
              <a:ext uri="{FF2B5EF4-FFF2-40B4-BE49-F238E27FC236}">
                <a16:creationId xmlns:a16="http://schemas.microsoft.com/office/drawing/2014/main" id="{43BA81AB-3A86-444F-A1B3-B3CA9EF954E3}"/>
              </a:ext>
            </a:extLst>
          </p:cNvPr>
          <p:cNvSpPr>
            <a:spLocks xmlns:a="http://schemas.openxmlformats.org/drawingml/2006/main" noGrp="1"/>
          </p:cNvSpPr>
          <p:nvPr/>
        </p:nvSpPr>
        <p:spPr>
          <a:xfrm xmlns:a="http://schemas.openxmlformats.org/drawingml/2006/main">
            <a:off x="685800" y="1581150"/>
            <a:ext cx="4953000"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BFE0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552E8EA0-F00B-4198-A443-C357277BA500}"/>
              </a:ext>
            </a:extLst>
          </p:cNvPr>
          <p:cNvSpPr>
            <a:spLocks xmlns:a="http://schemas.openxmlformats.org/drawingml/2006/main" noGrp="1"/>
          </p:cNvSpPr>
          <p:nvPr/>
        </p:nvSpPr>
        <p:spPr>
          <a:xfrm xmlns:a="http://schemas.openxmlformats.org/drawingml/2006/main">
            <a:off x="1047750" y="1885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E6B58"/>
                </a:solidFill>
              </a:defRPr>
            </a:pPr>
            <a:r>
              <a:rPr sz="2025" b="1">
                <a:solidFill>
                  <a:srgbClr val="2E6B58"/>
                </a:solidFill>
              </a:rPr>
              <a:t>指定数量の常時監視</a:t>
            </a:r>
          </a:p>
        </p:txBody>
      </p:sp>
      <p:sp>
        <p:nvSpPr>
          <p:cNvPr id="5" name="">
            <a:extLst xmlns:a="http://schemas.openxmlformats.org/drawingml/2006/main">
              <a:ext uri="{FF2B5EF4-FFF2-40B4-BE49-F238E27FC236}">
                <a16:creationId xmlns:a16="http://schemas.microsoft.com/office/drawing/2014/main" id="{2D11E500-8096-4F62-B92A-A0DBCD9AF3E7}"/>
              </a:ext>
            </a:extLst>
          </p:cNvPr>
          <p:cNvSpPr>
            <a:spLocks xmlns:a="http://schemas.openxmlformats.org/drawingml/2006/main" noGrp="1"/>
          </p:cNvSpPr>
          <p:nvPr/>
        </p:nvSpPr>
        <p:spPr>
          <a:xfrm xmlns:a="http://schemas.openxmlformats.org/drawingml/2006/main">
            <a:off x="1047750" y="236220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B6661"/>
                </a:solidFill>
              </a:defRPr>
            </a:pPr>
            <a:r>
              <a:rPr sz="1500" b="0">
                <a:solidFill>
                  <a:srgbClr val="5B6661"/>
                </a:solidFill>
              </a:rPr>
              <a:t>入出庫のたびに、溶媒庫単位で合算倍率を自動判定する。</a:t>
            </a:r>
          </a:p>
        </p:txBody>
      </p:sp>
      <p:sp>
        <p:nvSpPr>
          <p:cNvPr id="6" name="">
            <a:extLst xmlns:a="http://schemas.openxmlformats.org/drawingml/2006/main">
              <a:ext uri="{FF2B5EF4-FFF2-40B4-BE49-F238E27FC236}">
                <a16:creationId xmlns:a16="http://schemas.microsoft.com/office/drawing/2014/main" id="{FD3BDA56-E713-401D-B3C9-2EA5A941C76A}"/>
              </a:ext>
            </a:extLst>
          </p:cNvPr>
          <p:cNvSpPr>
            <a:spLocks xmlns:a="http://schemas.openxmlformats.org/drawingml/2006/main" noGrp="1"/>
          </p:cNvSpPr>
          <p:nvPr/>
        </p:nvSpPr>
        <p:spPr>
          <a:xfrm xmlns:a="http://schemas.openxmlformats.org/drawingml/2006/main">
            <a:off x="1066800" y="3143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95D5D"/>
                </a:solidFill>
              </a:defRPr>
            </a:pPr>
            <a:r>
              <a:rPr sz="1125" b="1">
                <a:solidFill>
                  <a:srgbClr val="D95D5D"/>
                </a:solidFill>
              </a:rPr>
              <a:t>Before</a:t>
            </a:r>
          </a:p>
        </p:txBody>
      </p:sp>
      <p:sp>
        <p:nvSpPr>
          <p:cNvPr id="7" name="">
            <a:extLst xmlns:a="http://schemas.openxmlformats.org/drawingml/2006/main">
              <a:ext uri="{FF2B5EF4-FFF2-40B4-BE49-F238E27FC236}">
                <a16:creationId xmlns:a16="http://schemas.microsoft.com/office/drawing/2014/main" id="{5290133F-0100-4C3D-8CDB-70A62DCC1105}"/>
              </a:ext>
            </a:extLst>
          </p:cNvPr>
          <p:cNvSpPr>
            <a:spLocks xmlns:a="http://schemas.openxmlformats.org/drawingml/2006/main" noGrp="1"/>
          </p:cNvSpPr>
          <p:nvPr/>
        </p:nvSpPr>
        <p:spPr>
          <a:xfrm xmlns:a="http://schemas.openxmlformats.org/drawingml/2006/main">
            <a:off x="1962150" y="3105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01C"/>
                </a:solidFill>
              </a:defRPr>
            </a:pPr>
            <a:r>
              <a:rPr sz="1650" b="0">
                <a:solidFill>
                  <a:srgbClr val="17201C"/>
                </a:solidFill>
              </a:rPr>
              <a:t>人が定期的に確認</a:t>
            </a:r>
          </a:p>
        </p:txBody>
      </p:sp>
      <p:sp>
        <p:nvSpPr>
          <p:cNvPr id="8" name="">
            <a:extLst xmlns:a="http://schemas.openxmlformats.org/drawingml/2006/main">
              <a:ext uri="{FF2B5EF4-FFF2-40B4-BE49-F238E27FC236}">
                <a16:creationId xmlns:a16="http://schemas.microsoft.com/office/drawing/2014/main" id="{7D54B3B8-9B53-474D-B03F-83FBE01FEAF0}"/>
              </a:ext>
            </a:extLst>
          </p:cNvPr>
          <p:cNvSpPr>
            <a:spLocks xmlns:a="http://schemas.openxmlformats.org/drawingml/2006/main" noGrp="1"/>
          </p:cNvSpPr>
          <p:nvPr/>
        </p:nvSpPr>
        <p:spPr>
          <a:xfrm xmlns:a="http://schemas.openxmlformats.org/drawingml/2006/main">
            <a:off x="1066800" y="381000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After</a:t>
            </a:r>
          </a:p>
        </p:txBody>
      </p:sp>
      <p:sp>
        <p:nvSpPr>
          <p:cNvPr id="9" name="">
            <a:extLst xmlns:a="http://schemas.openxmlformats.org/drawingml/2006/main">
              <a:ext uri="{FF2B5EF4-FFF2-40B4-BE49-F238E27FC236}">
                <a16:creationId xmlns:a16="http://schemas.microsoft.com/office/drawing/2014/main" id="{345417CB-CFDD-481F-A4F4-1A2739AA0136}"/>
              </a:ext>
            </a:extLst>
          </p:cNvPr>
          <p:cNvSpPr>
            <a:spLocks xmlns:a="http://schemas.openxmlformats.org/drawingml/2006/main" noGrp="1"/>
          </p:cNvSpPr>
          <p:nvPr/>
        </p:nvSpPr>
        <p:spPr>
          <a:xfrm xmlns:a="http://schemas.openxmlformats.org/drawingml/2006/main">
            <a:off x="1962150" y="37719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01C"/>
                </a:solidFill>
              </a:defRPr>
            </a:pPr>
            <a:r>
              <a:rPr sz="1650" b="1">
                <a:solidFill>
                  <a:srgbClr val="17201C"/>
                </a:solidFill>
              </a:rPr>
              <a:t>しきい値超過を通知</a:t>
            </a:r>
          </a:p>
        </p:txBody>
      </p:sp>
      <p:sp>
        <p:nvSpPr>
          <p:cNvPr id="10" name="">
            <a:extLst xmlns:a="http://schemas.openxmlformats.org/drawingml/2006/main">
              <a:ext uri="{FF2B5EF4-FFF2-40B4-BE49-F238E27FC236}">
                <a16:creationId xmlns:a16="http://schemas.microsoft.com/office/drawing/2014/main" id="{9778469E-1583-4CE0-BB77-5281063419DB}"/>
              </a:ext>
            </a:extLst>
          </p:cNvPr>
          <p:cNvSpPr>
            <a:spLocks xmlns:a="http://schemas.openxmlformats.org/drawingml/2006/main" noGrp="1"/>
          </p:cNvSpPr>
          <p:nvPr/>
        </p:nvSpPr>
        <p:spPr>
          <a:xfrm xmlns:a="http://schemas.openxmlformats.org/drawingml/2006/main">
            <a:off x="1066800" y="4629150"/>
            <a:ext cx="1257300" cy="323850"/>
          </a:xfrm>
          <a:prstGeom xmlns:a="http://schemas.openxmlformats.org/drawingml/2006/main" prst="roundRect">
            <a:avLst>
              <a:gd name="adj" fmla="val 50000"/>
            </a:avLst>
          </a:prstGeom>
          <a:solidFill xmlns:a="http://schemas.openxmlformats.org/drawingml/2006/main">
            <a:srgbClr val="E8F6F0"/>
          </a:solidFill>
          <a:ln xmlns:a="http://schemas.openxmlformats.org/drawingml/2006/main" w="9525">
            <a:solidFill>
              <a:srgbClr val="B7D9CD"/>
            </a:solidFill>
            <a:prstDash val="solid"/>
          </a:ln>
        </p:spPr>
      </p:sp>
      <p:sp>
        <p:nvSpPr>
          <p:cNvPr id="11" name="">
            <a:extLst xmlns:a="http://schemas.openxmlformats.org/drawingml/2006/main">
              <a:ext uri="{FF2B5EF4-FFF2-40B4-BE49-F238E27FC236}">
                <a16:creationId xmlns:a16="http://schemas.microsoft.com/office/drawing/2014/main" id="{0C68B486-48BC-4D03-ACD1-FB5419B164B1}"/>
              </a:ext>
            </a:extLst>
          </p:cNvPr>
          <p:cNvSpPr>
            <a:spLocks xmlns:a="http://schemas.openxmlformats.org/drawingml/2006/main" noGrp="1"/>
          </p:cNvSpPr>
          <p:nvPr/>
        </p:nvSpPr>
        <p:spPr>
          <a:xfrm xmlns:a="http://schemas.openxmlformats.org/drawingml/2006/main">
            <a:off x="1219200" y="46863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E6B58"/>
                </a:solidFill>
              </a:defRPr>
            </a:pPr>
            <a:r>
              <a:rPr sz="975" b="1">
                <a:solidFill>
                  <a:srgbClr val="2E6B58"/>
                </a:solidFill>
              </a:rPr>
              <a:t>管理者向け</a:t>
            </a:r>
          </a:p>
        </p:txBody>
      </p:sp>
      <p:sp>
        <p:nvSpPr>
          <p:cNvPr id="12" name="">
            <a:extLst xmlns:a="http://schemas.openxmlformats.org/drawingml/2006/main">
              <a:ext uri="{FF2B5EF4-FFF2-40B4-BE49-F238E27FC236}">
                <a16:creationId xmlns:a16="http://schemas.microsoft.com/office/drawing/2014/main" id="{F4D86E2E-A34D-472F-AB94-15ABE5D4D368}"/>
              </a:ext>
            </a:extLst>
          </p:cNvPr>
          <p:cNvSpPr>
            <a:spLocks xmlns:a="http://schemas.openxmlformats.org/drawingml/2006/main" noGrp="1"/>
          </p:cNvSpPr>
          <p:nvPr/>
        </p:nvSpPr>
        <p:spPr>
          <a:xfrm xmlns:a="http://schemas.openxmlformats.org/drawingml/2006/main">
            <a:off x="2476500" y="4629150"/>
            <a:ext cx="2095500" cy="323850"/>
          </a:xfrm>
          <a:prstGeom xmlns:a="http://schemas.openxmlformats.org/drawingml/2006/main" prst="roundRect">
            <a:avLst>
              <a:gd name="adj" fmla="val 50000"/>
            </a:avLst>
          </a:prstGeom>
          <a:solidFill xmlns:a="http://schemas.openxmlformats.org/drawingml/2006/main">
            <a:srgbClr val="EFF4F1"/>
          </a:solidFill>
          <a:ln xmlns:a="http://schemas.openxmlformats.org/drawingml/2006/main" w="9525">
            <a:solidFill>
              <a:srgbClr val="B7D9CD"/>
            </a:solidFill>
            <a:prstDash val="solid"/>
          </a:ln>
        </p:spPr>
      </p:sp>
      <p:sp>
        <p:nvSpPr>
          <p:cNvPr id="13" name="">
            <a:extLst xmlns:a="http://schemas.openxmlformats.org/drawingml/2006/main">
              <a:ext uri="{FF2B5EF4-FFF2-40B4-BE49-F238E27FC236}">
                <a16:creationId xmlns:a16="http://schemas.microsoft.com/office/drawing/2014/main" id="{AEDE13CC-4B40-4002-AD8C-247EC9033727}"/>
              </a:ext>
            </a:extLst>
          </p:cNvPr>
          <p:cNvSpPr>
            <a:spLocks xmlns:a="http://schemas.openxmlformats.org/drawingml/2006/main" noGrp="1"/>
          </p:cNvSpPr>
          <p:nvPr/>
        </p:nvSpPr>
        <p:spPr>
          <a:xfrm xmlns:a="http://schemas.openxmlformats.org/drawingml/2006/main">
            <a:off x="2628900" y="46863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5B6661"/>
                </a:solidFill>
              </a:defRPr>
            </a:pPr>
            <a:r>
              <a:rPr sz="975" b="1">
                <a:solidFill>
                  <a:srgbClr val="5B6661"/>
                </a:solidFill>
              </a:rPr>
              <a:t>研究室ユーザーには非表示</a:t>
            </a:r>
          </a:p>
        </p:txBody>
      </p:sp>
      <p:sp>
        <p:nvSpPr>
          <p:cNvPr id="14" name="">
            <a:extLst xmlns:a="http://schemas.openxmlformats.org/drawingml/2006/main">
              <a:ext uri="{FF2B5EF4-FFF2-40B4-BE49-F238E27FC236}">
                <a16:creationId xmlns:a16="http://schemas.microsoft.com/office/drawing/2014/main" id="{94C401B5-7655-4AFA-9D15-E2BA0EC50162}"/>
              </a:ext>
            </a:extLst>
          </p:cNvPr>
          <p:cNvSpPr>
            <a:spLocks xmlns:a="http://schemas.openxmlformats.org/drawingml/2006/main" noGrp="1"/>
          </p:cNvSpPr>
          <p:nvPr/>
        </p:nvSpPr>
        <p:spPr>
          <a:xfrm xmlns:a="http://schemas.openxmlformats.org/drawingml/2006/main">
            <a:off x="6534150" y="1581150"/>
            <a:ext cx="4953000"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BFE0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C2F78276-6AD4-47DF-B80A-B59FD43229A0}"/>
              </a:ext>
            </a:extLst>
          </p:cNvPr>
          <p:cNvSpPr>
            <a:spLocks xmlns:a="http://schemas.openxmlformats.org/drawingml/2006/main" noGrp="1"/>
          </p:cNvSpPr>
          <p:nvPr/>
        </p:nvSpPr>
        <p:spPr>
          <a:xfrm xmlns:a="http://schemas.openxmlformats.org/drawingml/2006/main">
            <a:off x="6896100" y="1885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E6B58"/>
                </a:solidFill>
              </a:defRPr>
            </a:pPr>
            <a:r>
              <a:rPr sz="2025" b="1">
                <a:solidFill>
                  <a:srgbClr val="2E6B58"/>
                </a:solidFill>
              </a:rPr>
              <a:t>欠品予測</a:t>
            </a:r>
          </a:p>
        </p:txBody>
      </p:sp>
      <p:sp>
        <p:nvSpPr>
          <p:cNvPr id="16" name="">
            <a:extLst xmlns:a="http://schemas.openxmlformats.org/drawingml/2006/main">
              <a:ext uri="{FF2B5EF4-FFF2-40B4-BE49-F238E27FC236}">
                <a16:creationId xmlns:a16="http://schemas.microsoft.com/office/drawing/2014/main" id="{9A95D96A-9491-4096-9D97-809F6CECCE3F}"/>
              </a:ext>
            </a:extLst>
          </p:cNvPr>
          <p:cNvSpPr>
            <a:spLocks xmlns:a="http://schemas.openxmlformats.org/drawingml/2006/main" noGrp="1"/>
          </p:cNvSpPr>
          <p:nvPr/>
        </p:nvSpPr>
        <p:spPr>
          <a:xfrm xmlns:a="http://schemas.openxmlformats.org/drawingml/2006/main">
            <a:off x="6896100" y="23622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B6661"/>
                </a:solidFill>
              </a:defRPr>
            </a:pPr>
            <a:r>
              <a:rPr sz="1500" b="0">
                <a:solidFill>
                  <a:srgbClr val="5B6661"/>
                </a:solidFill>
              </a:rPr>
              <a:t>直近の出庫履歴から、下限割れ予測日をホームとグラフに表示する。</a:t>
            </a:r>
          </a:p>
        </p:txBody>
      </p:sp>
      <p:graphicFrame>
        <p:nvGraphicFramePr>
          <p:cNvPr id="41" name="Chart"/>
          <p:cNvGraphicFramePr/>
          <p:nvPr/>
        </p:nvGraphicFramePr>
        <p:xfrm>
          <a:off xmlns:a="http://schemas.openxmlformats.org/drawingml/2006/main" x="6953250" y="3124200"/>
          <a:ext xmlns:a="http://schemas.openxmlformats.org/drawingml/2006/main" cx="3524250" cy="1619250"/>
        </p:xfrm>
        <a:graphic xmlns:a="http://schemas.openxmlformats.org/drawingml/2006/main">
          <a:graphicData uri="http://schemas.openxmlformats.org/drawingml/2006/chart">
            <c:chart xmlns:r="http://schemas.openxmlformats.org/officeDocument/2006/relationships" xmlns:c="http://schemas.openxmlformats.org/drawingml/2006/chart" r:id="Reb59ea077cbc463c"/>
          </a:graphicData>
        </a:graphic>
      </p:graphicFrame>
      <p:sp>
        <p:nvSpPr>
          <p:cNvPr id="18" name="">
            <a:extLst xmlns:a="http://schemas.openxmlformats.org/drawingml/2006/main">
              <a:ext uri="{FF2B5EF4-FFF2-40B4-BE49-F238E27FC236}">
                <a16:creationId xmlns:a16="http://schemas.microsoft.com/office/drawing/2014/main" id="{1EDFF2AE-4678-47A8-A556-1F2C9202D498}"/>
              </a:ext>
            </a:extLst>
          </p:cNvPr>
          <p:cNvSpPr>
            <a:spLocks xmlns:a="http://schemas.openxmlformats.org/drawingml/2006/main" noGrp="1"/>
          </p:cNvSpPr>
          <p:nvPr/>
        </p:nvSpPr>
        <p:spPr>
          <a:xfrm xmlns:a="http://schemas.openxmlformats.org/drawingml/2006/main">
            <a:off x="7067550" y="4914900"/>
            <a:ext cx="1257300" cy="323850"/>
          </a:xfrm>
          <a:prstGeom xmlns:a="http://schemas.openxmlformats.org/drawingml/2006/main" prst="roundRect">
            <a:avLst>
              <a:gd name="adj" fmla="val 50000"/>
            </a:avLst>
          </a:prstGeom>
          <a:solidFill xmlns:a="http://schemas.openxmlformats.org/drawingml/2006/main">
            <a:srgbClr val="EFF4F1"/>
          </a:solidFill>
          <a:ln xmlns:a="http://schemas.openxmlformats.org/drawingml/2006/main" w="9525">
            <a:solidFill>
              <a:srgbClr val="B7D9CD"/>
            </a:solidFill>
            <a:prstDash val="solid"/>
          </a:ln>
        </p:spPr>
      </p:sp>
      <p:sp>
        <p:nvSpPr>
          <p:cNvPr id="19" name="">
            <a:extLst xmlns:a="http://schemas.openxmlformats.org/drawingml/2006/main">
              <a:ext uri="{FF2B5EF4-FFF2-40B4-BE49-F238E27FC236}">
                <a16:creationId xmlns:a16="http://schemas.microsoft.com/office/drawing/2014/main" id="{FAFC6B6B-A0A2-4E7C-9AD7-98FC98844E7D}"/>
              </a:ext>
            </a:extLst>
          </p:cNvPr>
          <p:cNvSpPr>
            <a:spLocks xmlns:a="http://schemas.openxmlformats.org/drawingml/2006/main" noGrp="1"/>
          </p:cNvSpPr>
          <p:nvPr/>
        </p:nvSpPr>
        <p:spPr>
          <a:xfrm xmlns:a="http://schemas.openxmlformats.org/drawingml/2006/main">
            <a:off x="7219950" y="49720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5B6661"/>
                </a:solidFill>
              </a:defRPr>
            </a:pPr>
            <a:r>
              <a:rPr sz="975" b="1">
                <a:solidFill>
                  <a:srgbClr val="5B6661"/>
                </a:solidFill>
              </a:rPr>
              <a:t>経験と勘から</a:t>
            </a:r>
          </a:p>
        </p:txBody>
      </p:sp>
      <p:sp>
        <p:nvSpPr>
          <p:cNvPr id="20" name="">
            <a:extLst xmlns:a="http://schemas.openxmlformats.org/drawingml/2006/main">
              <a:ext uri="{FF2B5EF4-FFF2-40B4-BE49-F238E27FC236}">
                <a16:creationId xmlns:a16="http://schemas.microsoft.com/office/drawing/2014/main" id="{29E61BEA-E72E-4078-A395-8CE151997DFA}"/>
              </a:ext>
            </a:extLst>
          </p:cNvPr>
          <p:cNvSpPr>
            <a:spLocks xmlns:a="http://schemas.openxmlformats.org/drawingml/2006/main" noGrp="1"/>
          </p:cNvSpPr>
          <p:nvPr/>
        </p:nvSpPr>
        <p:spPr>
          <a:xfrm xmlns:a="http://schemas.openxmlformats.org/drawingml/2006/main">
            <a:off x="8458200" y="4876800"/>
            <a:ext cx="666750" cy="400050"/>
          </a:xfrm>
          <a:prstGeom xmlns:a="http://schemas.openxmlformats.org/drawingml/2006/main" prst="rightArrow">
            <a:avLst/>
          </a:prstGeom>
          <a:solidFill xmlns:a="http://schemas.openxmlformats.org/drawingml/2006/main">
            <a:srgbClr val="CFE8DF"/>
          </a:solidFill>
          <a:ln xmlns:a="http://schemas.openxmlformats.org/drawingml/2006/main" w="9525">
            <a:solidFill>
              <a:srgbClr val="89C7B6"/>
            </a:solidFill>
            <a:prstDash val="solid"/>
          </a:ln>
        </p:spPr>
      </p:sp>
      <p:sp>
        <p:nvSpPr>
          <p:cNvPr id="21" name="">
            <a:extLst xmlns:a="http://schemas.openxmlformats.org/drawingml/2006/main">
              <a:ext uri="{FF2B5EF4-FFF2-40B4-BE49-F238E27FC236}">
                <a16:creationId xmlns:a16="http://schemas.microsoft.com/office/drawing/2014/main" id="{9F3F77F8-B863-442A-A988-8EBA67CC2DC0}"/>
              </a:ext>
            </a:extLst>
          </p:cNvPr>
          <p:cNvSpPr>
            <a:spLocks xmlns:a="http://schemas.openxmlformats.org/drawingml/2006/main" noGrp="1"/>
          </p:cNvSpPr>
          <p:nvPr/>
        </p:nvSpPr>
        <p:spPr>
          <a:xfrm xmlns:a="http://schemas.openxmlformats.org/drawingml/2006/main">
            <a:off x="9239250" y="4914900"/>
            <a:ext cx="1981200" cy="323850"/>
          </a:xfrm>
          <a:prstGeom xmlns:a="http://schemas.openxmlformats.org/drawingml/2006/main" prst="roundRect">
            <a:avLst>
              <a:gd name="adj" fmla="val 50000"/>
            </a:avLst>
          </a:prstGeom>
          <a:solidFill xmlns:a="http://schemas.openxmlformats.org/drawingml/2006/main">
            <a:srgbClr val="E8F6F0"/>
          </a:solidFill>
          <a:ln xmlns:a="http://schemas.openxmlformats.org/drawingml/2006/main" w="9525">
            <a:solidFill>
              <a:srgbClr val="B7D9CD"/>
            </a:solidFill>
            <a:prstDash val="solid"/>
          </a:ln>
        </p:spPr>
      </p:sp>
      <p:sp>
        <p:nvSpPr>
          <p:cNvPr id="22" name="">
            <a:extLst xmlns:a="http://schemas.openxmlformats.org/drawingml/2006/main">
              <a:ext uri="{FF2B5EF4-FFF2-40B4-BE49-F238E27FC236}">
                <a16:creationId xmlns:a16="http://schemas.microsoft.com/office/drawing/2014/main" id="{7F6E0808-7F38-4AF4-8191-1C924426848F}"/>
              </a:ext>
            </a:extLst>
          </p:cNvPr>
          <p:cNvSpPr>
            <a:spLocks xmlns:a="http://schemas.openxmlformats.org/drawingml/2006/main" noGrp="1"/>
          </p:cNvSpPr>
          <p:nvPr/>
        </p:nvSpPr>
        <p:spPr>
          <a:xfrm xmlns:a="http://schemas.openxmlformats.org/drawingml/2006/main">
            <a:off x="9391650" y="4972050"/>
            <a:ext cx="1676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2E6B58"/>
                </a:solidFill>
              </a:defRPr>
            </a:pPr>
            <a:r>
              <a:rPr sz="975" b="1">
                <a:solidFill>
                  <a:srgbClr val="2E6B58"/>
                </a:solidFill>
              </a:rPr>
              <a:t>データによる見通しへ</a:t>
            </a:r>
          </a:p>
        </p:txBody>
      </p:sp>
      <p:sp>
        <p:nvSpPr>
          <p:cNvPr id="23" name="">
            <a:extLst xmlns:a="http://schemas.openxmlformats.org/drawingml/2006/main">
              <a:ext uri="{FF2B5EF4-FFF2-40B4-BE49-F238E27FC236}">
                <a16:creationId xmlns:a16="http://schemas.microsoft.com/office/drawing/2014/main" id="{02FBE04C-FFAF-4D68-992C-9097361ACCB6}"/>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07</a:t>
            </a:r>
          </a:p>
        </p:txBody>
      </p:sp>
      <p:sp>
        <p:nvSpPr>
          <p:cNvPr id="24" name="">
            <a:extLst xmlns:a="http://schemas.openxmlformats.org/drawingml/2006/main">
              <a:ext uri="{FF2B5EF4-FFF2-40B4-BE49-F238E27FC236}">
                <a16:creationId xmlns:a16="http://schemas.microsoft.com/office/drawing/2014/main" id="{4AA84759-6408-4A87-ACEE-C86C87FC0824}"/>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3471745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DA3C67-662A-42CD-A5AA-3BF5B056AD4C}"/>
              </a:ext>
            </a:extLst>
          </p:cNvPr>
          <p:cNvSpPr>
            <a:spLocks xmlns:a="http://schemas.openxmlformats.org/drawingml/2006/main" noGrp="1"/>
          </p:cNvSpPr>
          <p:nvPr/>
        </p:nvSpPr>
        <p:spPr>
          <a:xfrm xmlns:a="http://schemas.openxmlformats.org/drawingml/2006/main">
            <a:off x="68580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E6B58"/>
                </a:solidFill>
              </a:defRPr>
            </a:pPr>
            <a:r>
              <a:rPr sz="1125" b="1">
                <a:solidFill>
                  <a:srgbClr val="2E6B58"/>
                </a:solidFill>
              </a:rPr>
              <a:t>今後の予定</a:t>
            </a:r>
          </a:p>
        </p:txBody>
      </p:sp>
      <p:sp>
        <p:nvSpPr>
          <p:cNvPr id="2" name="">
            <a:extLst xmlns:a="http://schemas.openxmlformats.org/drawingml/2006/main">
              <a:ext uri="{FF2B5EF4-FFF2-40B4-BE49-F238E27FC236}">
                <a16:creationId xmlns:a16="http://schemas.microsoft.com/office/drawing/2014/main" id="{7D805EDD-F82B-45B7-9D1B-8F4CBADF27DD}"/>
              </a:ext>
            </a:extLst>
          </p:cNvPr>
          <p:cNvSpPr>
            <a:spLocks xmlns:a="http://schemas.openxmlformats.org/drawingml/2006/main" noGrp="1"/>
          </p:cNvSpPr>
          <p:nvPr/>
        </p:nvSpPr>
        <p:spPr>
          <a:xfrm xmlns:a="http://schemas.openxmlformats.org/drawingml/2006/main">
            <a:off x="685800" y="7239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201C"/>
                </a:solidFill>
              </a:defRPr>
            </a:pPr>
            <a:r>
              <a:rPr sz="2700" b="1">
                <a:solidFill>
                  <a:srgbClr val="17201C"/>
                </a:solidFill>
              </a:rPr>
              <a:t>次は要件を実装し、運用で検証できる形にする</a:t>
            </a:r>
          </a:p>
        </p:txBody>
      </p:sp>
      <p:sp>
        <p:nvSpPr>
          <p:cNvPr id="3" name="">
            <a:extLst xmlns:a="http://schemas.openxmlformats.org/drawingml/2006/main">
              <a:ext uri="{FF2B5EF4-FFF2-40B4-BE49-F238E27FC236}">
                <a16:creationId xmlns:a16="http://schemas.microsoft.com/office/drawing/2014/main" id="{173AC516-E3A5-4745-AE29-5F8F79F34ADE}"/>
              </a:ext>
            </a:extLst>
          </p:cNvPr>
          <p:cNvSpPr>
            <a:spLocks xmlns:a="http://schemas.openxmlformats.org/drawingml/2006/main" noGrp="1"/>
          </p:cNvSpPr>
          <p:nvPr/>
        </p:nvSpPr>
        <p:spPr>
          <a:xfrm xmlns:a="http://schemas.openxmlformats.org/drawingml/2006/main">
            <a:off x="723900" y="1466850"/>
            <a:ext cx="895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B6661"/>
                </a:solidFill>
              </a:defRPr>
            </a:pPr>
            <a:r>
              <a:rPr sz="1650" b="0">
                <a:solidFill>
                  <a:srgbClr val="5B6661"/>
                </a:solidFill>
              </a:rPr>
              <a:t>中間報告後は、要件定義で決めた差分を順に実装し、実際の利用者に近い操作で確認する。</a:t>
            </a:r>
          </a:p>
        </p:txBody>
      </p:sp>
      <p:sp>
        <p:nvSpPr>
          <p:cNvPr id="4" name="">
            <a:extLst xmlns:a="http://schemas.openxmlformats.org/drawingml/2006/main">
              <a:ext uri="{FF2B5EF4-FFF2-40B4-BE49-F238E27FC236}">
                <a16:creationId xmlns:a16="http://schemas.microsoft.com/office/drawing/2014/main" id="{02A7BF25-B2DB-45FA-947D-2450B42A82E9}"/>
              </a:ext>
            </a:extLst>
          </p:cNvPr>
          <p:cNvSpPr>
            <a:spLocks xmlns:a="http://schemas.openxmlformats.org/drawingml/2006/main" noGrp="1"/>
          </p:cNvSpPr>
          <p:nvPr/>
        </p:nvSpPr>
        <p:spPr>
          <a:xfrm xmlns:a="http://schemas.openxmlformats.org/drawingml/2006/main">
            <a:off x="838200" y="2686050"/>
            <a:ext cx="514350" cy="514350"/>
          </a:xfrm>
          <a:prstGeom xmlns:a="http://schemas.openxmlformats.org/drawingml/2006/main" prst="ellipse">
            <a:avLst/>
          </a:prstGeom>
          <a:solidFill xmlns:a="http://schemas.openxmlformats.org/drawingml/2006/main">
            <a:srgbClr val="2E6B58"/>
          </a:solidFill>
          <a:ln xmlns:a="http://schemas.openxmlformats.org/drawingml/2006/main" w="0">
            <a:solidFill>
              <a:srgbClr val="2E6B58"/>
            </a:solidFill>
            <a:prstDash val="solid"/>
          </a:ln>
        </p:spPr>
      </p:sp>
      <p:sp>
        <p:nvSpPr>
          <p:cNvPr id="5" name="">
            <a:extLst xmlns:a="http://schemas.openxmlformats.org/drawingml/2006/main">
              <a:ext uri="{FF2B5EF4-FFF2-40B4-BE49-F238E27FC236}">
                <a16:creationId xmlns:a16="http://schemas.microsoft.com/office/drawing/2014/main" id="{68F68534-FA1B-4B07-A17E-C6006F336695}"/>
              </a:ext>
            </a:extLst>
          </p:cNvPr>
          <p:cNvSpPr>
            <a:spLocks xmlns:a="http://schemas.openxmlformats.org/drawingml/2006/main" noGrp="1"/>
          </p:cNvSpPr>
          <p:nvPr/>
        </p:nvSpPr>
        <p:spPr>
          <a:xfrm xmlns:a="http://schemas.openxmlformats.org/drawingml/2006/main">
            <a:off x="838200" y="27908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6" name="">
            <a:extLst xmlns:a="http://schemas.openxmlformats.org/drawingml/2006/main">
              <a:ext uri="{FF2B5EF4-FFF2-40B4-BE49-F238E27FC236}">
                <a16:creationId xmlns:a16="http://schemas.microsoft.com/office/drawing/2014/main" id="{28600ADF-C5C0-4A9D-89F3-9BDEDD09DB6A}"/>
              </a:ext>
            </a:extLst>
          </p:cNvPr>
          <p:cNvSpPr>
            <a:spLocks xmlns:a="http://schemas.openxmlformats.org/drawingml/2006/main" noGrp="1"/>
          </p:cNvSpPr>
          <p:nvPr/>
        </p:nvSpPr>
        <p:spPr>
          <a:xfrm xmlns:a="http://schemas.openxmlformats.org/drawingml/2006/main">
            <a:off x="1352550" y="2943225"/>
            <a:ext cx="2076450" cy="0"/>
          </a:xfrm>
          <a:prstGeom xmlns:a="http://schemas.openxmlformats.org/drawingml/2006/main" prst="line">
            <a:avLst/>
          </a:prstGeom>
          <a:noFill xmlns:a="http://schemas.openxmlformats.org/drawingml/2006/main"/>
          <a:ln xmlns:a="http://schemas.openxmlformats.org/drawingml/2006/main" w="38100">
            <a:solidFill>
              <a:srgbClr val="C6DCD3"/>
            </a:solidFill>
            <a:prstDash val="solid"/>
          </a:ln>
        </p:spPr>
      </p:sp>
      <p:sp>
        <p:nvSpPr>
          <p:cNvPr id="7" name="">
            <a:extLst xmlns:a="http://schemas.openxmlformats.org/drawingml/2006/main">
              <a:ext uri="{FF2B5EF4-FFF2-40B4-BE49-F238E27FC236}">
                <a16:creationId xmlns:a16="http://schemas.microsoft.com/office/drawing/2014/main" id="{39339509-BB82-4205-8386-70AB78090777}"/>
              </a:ext>
            </a:extLst>
          </p:cNvPr>
          <p:cNvSpPr>
            <a:spLocks xmlns:a="http://schemas.openxmlformats.org/drawingml/2006/main" noGrp="1"/>
          </p:cNvSpPr>
          <p:nvPr/>
        </p:nvSpPr>
        <p:spPr>
          <a:xfrm xmlns:a="http://schemas.openxmlformats.org/drawingml/2006/main">
            <a:off x="476250" y="3524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7201C"/>
                </a:solidFill>
              </a:defRPr>
            </a:pPr>
            <a:r>
              <a:rPr sz="1725" b="1">
                <a:solidFill>
                  <a:srgbClr val="17201C"/>
                </a:solidFill>
              </a:rPr>
              <a:t>DB差分を実装</a:t>
            </a:r>
          </a:p>
        </p:txBody>
      </p:sp>
      <p:sp>
        <p:nvSpPr>
          <p:cNvPr id="8" name="">
            <a:extLst xmlns:a="http://schemas.openxmlformats.org/drawingml/2006/main">
              <a:ext uri="{FF2B5EF4-FFF2-40B4-BE49-F238E27FC236}">
                <a16:creationId xmlns:a16="http://schemas.microsoft.com/office/drawing/2014/main" id="{CFA295CC-F3AC-45EC-B854-3801A9071083}"/>
              </a:ext>
            </a:extLst>
          </p:cNvPr>
          <p:cNvSpPr>
            <a:spLocks xmlns:a="http://schemas.openxmlformats.org/drawingml/2006/main" noGrp="1"/>
          </p:cNvSpPr>
          <p:nvPr/>
        </p:nvSpPr>
        <p:spPr>
          <a:xfrm xmlns:a="http://schemas.openxmlformats.org/drawingml/2006/main">
            <a:off x="381000" y="40005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B6661"/>
                </a:solidFill>
              </a:defRPr>
            </a:pPr>
            <a:r>
              <a:rPr sz="1200" b="0">
                <a:solidFill>
                  <a:srgbClr val="5B6661"/>
                </a:solidFill>
              </a:rPr>
              <a:t>指定数量・下限・通知・設定値</a:t>
            </a:r>
          </a:p>
        </p:txBody>
      </p:sp>
      <p:sp>
        <p:nvSpPr>
          <p:cNvPr id="9" name="">
            <a:extLst xmlns:a="http://schemas.openxmlformats.org/drawingml/2006/main">
              <a:ext uri="{FF2B5EF4-FFF2-40B4-BE49-F238E27FC236}">
                <a16:creationId xmlns:a16="http://schemas.microsoft.com/office/drawing/2014/main" id="{BC698926-08AB-49B6-9986-546F50E35C4F}"/>
              </a:ext>
            </a:extLst>
          </p:cNvPr>
          <p:cNvSpPr>
            <a:spLocks xmlns:a="http://schemas.openxmlformats.org/drawingml/2006/main" noGrp="1"/>
          </p:cNvSpPr>
          <p:nvPr/>
        </p:nvSpPr>
        <p:spPr>
          <a:xfrm xmlns:a="http://schemas.openxmlformats.org/drawingml/2006/main">
            <a:off x="3524250" y="2686050"/>
            <a:ext cx="514350" cy="514350"/>
          </a:xfrm>
          <a:prstGeom xmlns:a="http://schemas.openxmlformats.org/drawingml/2006/main" prst="ellipse">
            <a:avLst/>
          </a:prstGeom>
          <a:solidFill xmlns:a="http://schemas.openxmlformats.org/drawingml/2006/main">
            <a:srgbClr val="2E6B58"/>
          </a:solidFill>
          <a:ln xmlns:a="http://schemas.openxmlformats.org/drawingml/2006/main" w="0">
            <a:solidFill>
              <a:srgbClr val="2E6B58"/>
            </a:solidFill>
            <a:prstDash val="solid"/>
          </a:ln>
        </p:spPr>
      </p:sp>
      <p:sp>
        <p:nvSpPr>
          <p:cNvPr id="10" name="">
            <a:extLst xmlns:a="http://schemas.openxmlformats.org/drawingml/2006/main">
              <a:ext uri="{FF2B5EF4-FFF2-40B4-BE49-F238E27FC236}">
                <a16:creationId xmlns:a16="http://schemas.microsoft.com/office/drawing/2014/main" id="{6516BB57-2484-4822-B331-339B94F7CF35}"/>
              </a:ext>
            </a:extLst>
          </p:cNvPr>
          <p:cNvSpPr>
            <a:spLocks xmlns:a="http://schemas.openxmlformats.org/drawingml/2006/main" noGrp="1"/>
          </p:cNvSpPr>
          <p:nvPr/>
        </p:nvSpPr>
        <p:spPr>
          <a:xfrm xmlns:a="http://schemas.openxmlformats.org/drawingml/2006/main">
            <a:off x="3524250" y="27908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11" name="">
            <a:extLst xmlns:a="http://schemas.openxmlformats.org/drawingml/2006/main">
              <a:ext uri="{FF2B5EF4-FFF2-40B4-BE49-F238E27FC236}">
                <a16:creationId xmlns:a16="http://schemas.microsoft.com/office/drawing/2014/main" id="{0A718F83-521A-40B2-B060-3673B55A84C6}"/>
              </a:ext>
            </a:extLst>
          </p:cNvPr>
          <p:cNvSpPr>
            <a:spLocks xmlns:a="http://schemas.openxmlformats.org/drawingml/2006/main" noGrp="1"/>
          </p:cNvSpPr>
          <p:nvPr/>
        </p:nvSpPr>
        <p:spPr>
          <a:xfrm xmlns:a="http://schemas.openxmlformats.org/drawingml/2006/main">
            <a:off x="4038600" y="2943225"/>
            <a:ext cx="2076450" cy="0"/>
          </a:xfrm>
          <a:prstGeom xmlns:a="http://schemas.openxmlformats.org/drawingml/2006/main" prst="line">
            <a:avLst/>
          </a:prstGeom>
          <a:noFill xmlns:a="http://schemas.openxmlformats.org/drawingml/2006/main"/>
          <a:ln xmlns:a="http://schemas.openxmlformats.org/drawingml/2006/main" w="38100">
            <a:solidFill>
              <a:srgbClr val="C6DCD3"/>
            </a:solidFill>
            <a:prstDash val="solid"/>
          </a:ln>
        </p:spPr>
      </p:sp>
      <p:sp>
        <p:nvSpPr>
          <p:cNvPr id="12" name="">
            <a:extLst xmlns:a="http://schemas.openxmlformats.org/drawingml/2006/main">
              <a:ext uri="{FF2B5EF4-FFF2-40B4-BE49-F238E27FC236}">
                <a16:creationId xmlns:a16="http://schemas.microsoft.com/office/drawing/2014/main" id="{6F032655-F989-402D-A4E3-304FAC83FB68}"/>
              </a:ext>
            </a:extLst>
          </p:cNvPr>
          <p:cNvSpPr>
            <a:spLocks xmlns:a="http://schemas.openxmlformats.org/drawingml/2006/main" noGrp="1"/>
          </p:cNvSpPr>
          <p:nvPr/>
        </p:nvSpPr>
        <p:spPr>
          <a:xfrm xmlns:a="http://schemas.openxmlformats.org/drawingml/2006/main">
            <a:off x="3162300" y="3524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7201C"/>
                </a:solidFill>
              </a:defRPr>
            </a:pPr>
            <a:r>
              <a:rPr sz="1725" b="1">
                <a:solidFill>
                  <a:srgbClr val="17201C"/>
                </a:solidFill>
              </a:rPr>
              <a:t>画面へ反映</a:t>
            </a:r>
          </a:p>
        </p:txBody>
      </p:sp>
      <p:sp>
        <p:nvSpPr>
          <p:cNvPr id="13" name="">
            <a:extLst xmlns:a="http://schemas.openxmlformats.org/drawingml/2006/main">
              <a:ext uri="{FF2B5EF4-FFF2-40B4-BE49-F238E27FC236}">
                <a16:creationId xmlns:a16="http://schemas.microsoft.com/office/drawing/2014/main" id="{7203C926-DB2F-4C93-8927-AB0AF438D509}"/>
              </a:ext>
            </a:extLst>
          </p:cNvPr>
          <p:cNvSpPr>
            <a:spLocks xmlns:a="http://schemas.openxmlformats.org/drawingml/2006/main" noGrp="1"/>
          </p:cNvSpPr>
          <p:nvPr/>
        </p:nvSpPr>
        <p:spPr>
          <a:xfrm xmlns:a="http://schemas.openxmlformats.org/drawingml/2006/main">
            <a:off x="3067050" y="40005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B6661"/>
                </a:solidFill>
              </a:defRPr>
            </a:pPr>
            <a:r>
              <a:rPr sz="1200" b="0">
                <a:solidFill>
                  <a:srgbClr val="5B6661"/>
                </a:solidFill>
              </a:rPr>
              <a:t>ホーム・グラフ・</a:t>
            </a:r>
          </a:p>
          <a:p xmlns:a="http://schemas.openxmlformats.org/drawingml/2006/main">
            <a:pPr algn="ctr">
              <a:defRPr sz="1200" b="0">
                <a:solidFill>
                  <a:srgbClr val="5B6661"/>
                </a:solidFill>
              </a:defRPr>
            </a:pPr>
            <a:r>
              <a:rPr sz="1200" b="0">
                <a:solidFill>
                  <a:srgbClr val="5B6661"/>
                </a:solidFill>
              </a:rPr>
              <a:t>指定数量モニター</a:t>
            </a:r>
          </a:p>
        </p:txBody>
      </p:sp>
      <p:sp>
        <p:nvSpPr>
          <p:cNvPr id="14" name="">
            <a:extLst xmlns:a="http://schemas.openxmlformats.org/drawingml/2006/main">
              <a:ext uri="{FF2B5EF4-FFF2-40B4-BE49-F238E27FC236}">
                <a16:creationId xmlns:a16="http://schemas.microsoft.com/office/drawing/2014/main" id="{6FCF0712-097C-4EAE-BF93-ED0359660B40}"/>
              </a:ext>
            </a:extLst>
          </p:cNvPr>
          <p:cNvSpPr>
            <a:spLocks xmlns:a="http://schemas.openxmlformats.org/drawingml/2006/main" noGrp="1"/>
          </p:cNvSpPr>
          <p:nvPr/>
        </p:nvSpPr>
        <p:spPr>
          <a:xfrm xmlns:a="http://schemas.openxmlformats.org/drawingml/2006/main">
            <a:off x="6210300" y="2686050"/>
            <a:ext cx="514350" cy="514350"/>
          </a:xfrm>
          <a:prstGeom xmlns:a="http://schemas.openxmlformats.org/drawingml/2006/main" prst="ellipse">
            <a:avLst/>
          </a:prstGeom>
          <a:solidFill xmlns:a="http://schemas.openxmlformats.org/drawingml/2006/main">
            <a:srgbClr val="3A7CA5"/>
          </a:solidFill>
          <a:ln xmlns:a="http://schemas.openxmlformats.org/drawingml/2006/main" w="0">
            <a:solidFill>
              <a:srgbClr val="3A7CA5"/>
            </a:solidFill>
            <a:prstDash val="solid"/>
          </a:ln>
        </p:spPr>
      </p:sp>
      <p:sp>
        <p:nvSpPr>
          <p:cNvPr id="15" name="">
            <a:extLst xmlns:a="http://schemas.openxmlformats.org/drawingml/2006/main">
              <a:ext uri="{FF2B5EF4-FFF2-40B4-BE49-F238E27FC236}">
                <a16:creationId xmlns:a16="http://schemas.microsoft.com/office/drawing/2014/main" id="{F44D9957-F2CC-491D-B8C2-47C0CD6F210C}"/>
              </a:ext>
            </a:extLst>
          </p:cNvPr>
          <p:cNvSpPr>
            <a:spLocks xmlns:a="http://schemas.openxmlformats.org/drawingml/2006/main" noGrp="1"/>
          </p:cNvSpPr>
          <p:nvPr/>
        </p:nvSpPr>
        <p:spPr>
          <a:xfrm xmlns:a="http://schemas.openxmlformats.org/drawingml/2006/main">
            <a:off x="6210300" y="27908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16" name="">
            <a:extLst xmlns:a="http://schemas.openxmlformats.org/drawingml/2006/main">
              <a:ext uri="{FF2B5EF4-FFF2-40B4-BE49-F238E27FC236}">
                <a16:creationId xmlns:a16="http://schemas.microsoft.com/office/drawing/2014/main" id="{BF49A82A-7DFA-40AD-A1EB-C604E640C5D1}"/>
              </a:ext>
            </a:extLst>
          </p:cNvPr>
          <p:cNvSpPr>
            <a:spLocks xmlns:a="http://schemas.openxmlformats.org/drawingml/2006/main" noGrp="1"/>
          </p:cNvSpPr>
          <p:nvPr/>
        </p:nvSpPr>
        <p:spPr>
          <a:xfrm xmlns:a="http://schemas.openxmlformats.org/drawingml/2006/main">
            <a:off x="6724650" y="2943225"/>
            <a:ext cx="2076450" cy="0"/>
          </a:xfrm>
          <a:prstGeom xmlns:a="http://schemas.openxmlformats.org/drawingml/2006/main" prst="line">
            <a:avLst/>
          </a:prstGeom>
          <a:noFill xmlns:a="http://schemas.openxmlformats.org/drawingml/2006/main"/>
          <a:ln xmlns:a="http://schemas.openxmlformats.org/drawingml/2006/main" w="38100">
            <a:solidFill>
              <a:srgbClr val="C6DCD3"/>
            </a:solidFill>
            <a:prstDash val="solid"/>
          </a:ln>
        </p:spPr>
      </p:sp>
      <p:sp>
        <p:nvSpPr>
          <p:cNvPr id="17" name="">
            <a:extLst xmlns:a="http://schemas.openxmlformats.org/drawingml/2006/main">
              <a:ext uri="{FF2B5EF4-FFF2-40B4-BE49-F238E27FC236}">
                <a16:creationId xmlns:a16="http://schemas.microsoft.com/office/drawing/2014/main" id="{6F86256E-A6BD-46E7-9CD8-62D28ED352C3}"/>
              </a:ext>
            </a:extLst>
          </p:cNvPr>
          <p:cNvSpPr>
            <a:spLocks xmlns:a="http://schemas.openxmlformats.org/drawingml/2006/main" noGrp="1"/>
          </p:cNvSpPr>
          <p:nvPr/>
        </p:nvSpPr>
        <p:spPr>
          <a:xfrm xmlns:a="http://schemas.openxmlformats.org/drawingml/2006/main">
            <a:off x="5848350" y="3524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7201C"/>
                </a:solidFill>
              </a:defRPr>
            </a:pPr>
            <a:r>
              <a:rPr sz="1725" b="1">
                <a:solidFill>
                  <a:srgbClr val="17201C"/>
                </a:solidFill>
              </a:rPr>
              <a:t>判定ロジック</a:t>
            </a:r>
          </a:p>
        </p:txBody>
      </p:sp>
      <p:sp>
        <p:nvSpPr>
          <p:cNvPr id="18" name="">
            <a:extLst xmlns:a="http://schemas.openxmlformats.org/drawingml/2006/main">
              <a:ext uri="{FF2B5EF4-FFF2-40B4-BE49-F238E27FC236}">
                <a16:creationId xmlns:a16="http://schemas.microsoft.com/office/drawing/2014/main" id="{B340C5B2-F5F5-4970-8744-33008D3B3E3E}"/>
              </a:ext>
            </a:extLst>
          </p:cNvPr>
          <p:cNvSpPr>
            <a:spLocks xmlns:a="http://schemas.openxmlformats.org/drawingml/2006/main" noGrp="1"/>
          </p:cNvSpPr>
          <p:nvPr/>
        </p:nvSpPr>
        <p:spPr>
          <a:xfrm xmlns:a="http://schemas.openxmlformats.org/drawingml/2006/main">
            <a:off x="5753100" y="40005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B6661"/>
                </a:solidFill>
              </a:defRPr>
            </a:pPr>
            <a:r>
              <a:rPr sz="1200" b="0">
                <a:solidFill>
                  <a:srgbClr val="5B6661"/>
                </a:solidFill>
              </a:rPr>
              <a:t>通知生成と欠品予測を接続</a:t>
            </a:r>
          </a:p>
        </p:txBody>
      </p:sp>
      <p:sp>
        <p:nvSpPr>
          <p:cNvPr id="19" name="">
            <a:extLst xmlns:a="http://schemas.openxmlformats.org/drawingml/2006/main">
              <a:ext uri="{FF2B5EF4-FFF2-40B4-BE49-F238E27FC236}">
                <a16:creationId xmlns:a16="http://schemas.microsoft.com/office/drawing/2014/main" id="{84E49361-344B-4439-BE91-359E1D8884A9}"/>
              </a:ext>
            </a:extLst>
          </p:cNvPr>
          <p:cNvSpPr>
            <a:spLocks xmlns:a="http://schemas.openxmlformats.org/drawingml/2006/main" noGrp="1"/>
          </p:cNvSpPr>
          <p:nvPr/>
        </p:nvSpPr>
        <p:spPr>
          <a:xfrm xmlns:a="http://schemas.openxmlformats.org/drawingml/2006/main">
            <a:off x="8896350" y="2686050"/>
            <a:ext cx="514350" cy="514350"/>
          </a:xfrm>
          <a:prstGeom xmlns:a="http://schemas.openxmlformats.org/drawingml/2006/main" prst="ellipse">
            <a:avLst/>
          </a:prstGeom>
          <a:solidFill xmlns:a="http://schemas.openxmlformats.org/drawingml/2006/main">
            <a:srgbClr val="3A7CA5"/>
          </a:solidFill>
          <a:ln xmlns:a="http://schemas.openxmlformats.org/drawingml/2006/main" w="0">
            <a:solidFill>
              <a:srgbClr val="3A7CA5"/>
            </a:solidFill>
            <a:prstDash val="solid"/>
          </a:ln>
        </p:spPr>
      </p:sp>
      <p:sp>
        <p:nvSpPr>
          <p:cNvPr id="20" name="">
            <a:extLst xmlns:a="http://schemas.openxmlformats.org/drawingml/2006/main">
              <a:ext uri="{FF2B5EF4-FFF2-40B4-BE49-F238E27FC236}">
                <a16:creationId xmlns:a16="http://schemas.microsoft.com/office/drawing/2014/main" id="{FB7B7E66-3156-4056-AC5C-C26A34D7D01A}"/>
              </a:ext>
            </a:extLst>
          </p:cNvPr>
          <p:cNvSpPr>
            <a:spLocks xmlns:a="http://schemas.openxmlformats.org/drawingml/2006/main" noGrp="1"/>
          </p:cNvSpPr>
          <p:nvPr/>
        </p:nvSpPr>
        <p:spPr>
          <a:xfrm xmlns:a="http://schemas.openxmlformats.org/drawingml/2006/main">
            <a:off x="8896350" y="27908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21" name="">
            <a:extLst xmlns:a="http://schemas.openxmlformats.org/drawingml/2006/main">
              <a:ext uri="{FF2B5EF4-FFF2-40B4-BE49-F238E27FC236}">
                <a16:creationId xmlns:a16="http://schemas.microsoft.com/office/drawing/2014/main" id="{68AEE356-7B9F-420D-996B-9A2C357C3BCE}"/>
              </a:ext>
            </a:extLst>
          </p:cNvPr>
          <p:cNvSpPr>
            <a:spLocks xmlns:a="http://schemas.openxmlformats.org/drawingml/2006/main" noGrp="1"/>
          </p:cNvSpPr>
          <p:nvPr/>
        </p:nvSpPr>
        <p:spPr>
          <a:xfrm xmlns:a="http://schemas.openxmlformats.org/drawingml/2006/main">
            <a:off x="9410700" y="2943225"/>
            <a:ext cx="0" cy="0"/>
          </a:xfrm>
          <a:prstGeom xmlns:a="http://schemas.openxmlformats.org/drawingml/2006/main" prst="line">
            <a:avLst/>
          </a:prstGeom>
          <a:noFill xmlns:a="http://schemas.openxmlformats.org/drawingml/2006/main"/>
          <a:ln xmlns:a="http://schemas.openxmlformats.org/drawingml/2006/main" w="38100">
            <a:solidFill>
              <a:srgbClr val="C6DCD3"/>
            </a:solidFill>
            <a:prstDash val="solid"/>
          </a:ln>
        </p:spPr>
      </p:sp>
      <p:sp>
        <p:nvSpPr>
          <p:cNvPr id="22" name="">
            <a:extLst xmlns:a="http://schemas.openxmlformats.org/drawingml/2006/main">
              <a:ext uri="{FF2B5EF4-FFF2-40B4-BE49-F238E27FC236}">
                <a16:creationId xmlns:a16="http://schemas.microsoft.com/office/drawing/2014/main" id="{75F0BB0D-E357-4843-A8FD-6500F94901FF}"/>
              </a:ext>
            </a:extLst>
          </p:cNvPr>
          <p:cNvSpPr>
            <a:spLocks xmlns:a="http://schemas.openxmlformats.org/drawingml/2006/main" noGrp="1"/>
          </p:cNvSpPr>
          <p:nvPr/>
        </p:nvSpPr>
        <p:spPr>
          <a:xfrm xmlns:a="http://schemas.openxmlformats.org/drawingml/2006/main">
            <a:off x="8534400" y="3524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7201C"/>
                </a:solidFill>
              </a:defRPr>
            </a:pPr>
            <a:r>
              <a:rPr sz="1575" b="1">
                <a:solidFill>
                  <a:srgbClr val="17201C"/>
                </a:solidFill>
              </a:rPr>
              <a:t>テスト・ヒアリング</a:t>
            </a:r>
          </a:p>
        </p:txBody>
      </p:sp>
      <p:sp>
        <p:nvSpPr>
          <p:cNvPr id="23" name="">
            <a:extLst xmlns:a="http://schemas.openxmlformats.org/drawingml/2006/main">
              <a:ext uri="{FF2B5EF4-FFF2-40B4-BE49-F238E27FC236}">
                <a16:creationId xmlns:a16="http://schemas.microsoft.com/office/drawing/2014/main" id="{3C205C73-673C-46DE-AC73-564CF1916E4B}"/>
              </a:ext>
            </a:extLst>
          </p:cNvPr>
          <p:cNvSpPr>
            <a:spLocks xmlns:a="http://schemas.openxmlformats.org/drawingml/2006/main" noGrp="1"/>
          </p:cNvSpPr>
          <p:nvPr/>
        </p:nvSpPr>
        <p:spPr>
          <a:xfrm xmlns:a="http://schemas.openxmlformats.org/drawingml/2006/main">
            <a:off x="8439150" y="40005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B6661"/>
                </a:solidFill>
              </a:defRPr>
            </a:pPr>
            <a:r>
              <a:rPr sz="1200" b="0">
                <a:solidFill>
                  <a:srgbClr val="5B6661"/>
                </a:solidFill>
              </a:rPr>
              <a:t>使いやすさと</a:t>
            </a:r>
          </a:p>
          <a:p xmlns:a="http://schemas.openxmlformats.org/drawingml/2006/main">
            <a:pPr algn="ctr">
              <a:defRPr sz="1200" b="0">
                <a:solidFill>
                  <a:srgbClr val="5B6661"/>
                </a:solidFill>
              </a:defRPr>
            </a:pPr>
            <a:r>
              <a:rPr sz="1200" b="0">
                <a:solidFill>
                  <a:srgbClr val="5B6661"/>
                </a:solidFill>
              </a:rPr>
              <a:t>運用上の不足を確認</a:t>
            </a:r>
          </a:p>
        </p:txBody>
      </p:sp>
      <p:sp>
        <p:nvSpPr>
          <p:cNvPr id="24" name="">
            <a:extLst xmlns:a="http://schemas.openxmlformats.org/drawingml/2006/main">
              <a:ext uri="{FF2B5EF4-FFF2-40B4-BE49-F238E27FC236}">
                <a16:creationId xmlns:a16="http://schemas.microsoft.com/office/drawing/2014/main" id="{96DD559A-034F-4E60-981C-680961CD39CA}"/>
              </a:ext>
            </a:extLst>
          </p:cNvPr>
          <p:cNvSpPr>
            <a:spLocks xmlns:a="http://schemas.openxmlformats.org/drawingml/2006/main" noGrp="1"/>
          </p:cNvSpPr>
          <p:nvPr/>
        </p:nvSpPr>
        <p:spPr>
          <a:xfrm xmlns:a="http://schemas.openxmlformats.org/drawingml/2006/main">
            <a:off x="2171700" y="5219700"/>
            <a:ext cx="7810500" cy="609600"/>
          </a:xfrm>
          <a:prstGeom xmlns:a="http://schemas.openxmlformats.org/drawingml/2006/main" prst="roundRect">
            <a:avLst>
              <a:gd name="adj" fmla="val 18750"/>
            </a:avLst>
          </a:prstGeom>
          <a:solidFill xmlns:a="http://schemas.openxmlformats.org/drawingml/2006/main">
            <a:srgbClr val="F4FBF7"/>
          </a:solidFill>
          <a:ln xmlns:a="http://schemas.openxmlformats.org/drawingml/2006/main" w="9525">
            <a:solidFill>
              <a:srgbClr val="BFE0D5"/>
            </a:solidFill>
            <a:prstDash val="solid"/>
          </a:ln>
        </p:spPr>
      </p:sp>
      <p:sp>
        <p:nvSpPr>
          <p:cNvPr id="25" name="">
            <a:extLst xmlns:a="http://schemas.openxmlformats.org/drawingml/2006/main">
              <a:ext uri="{FF2B5EF4-FFF2-40B4-BE49-F238E27FC236}">
                <a16:creationId xmlns:a16="http://schemas.microsoft.com/office/drawing/2014/main" id="{63B8CC19-6B01-45E1-A121-FA93008F717C}"/>
              </a:ext>
            </a:extLst>
          </p:cNvPr>
          <p:cNvSpPr>
            <a:spLocks xmlns:a="http://schemas.openxmlformats.org/drawingml/2006/main" noGrp="1"/>
          </p:cNvSpPr>
          <p:nvPr/>
        </p:nvSpPr>
        <p:spPr>
          <a:xfrm xmlns:a="http://schemas.openxmlformats.org/drawingml/2006/main">
            <a:off x="2038350" y="5391150"/>
            <a:ext cx="807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2E6B58"/>
                </a:solidFill>
              </a:defRPr>
            </a:pPr>
            <a:r>
              <a:rPr sz="1575" b="1">
                <a:solidFill>
                  <a:srgbClr val="2E6B58"/>
                </a:solidFill>
              </a:rPr>
              <a:t>最終的には、管理者が安全管理と在庫判断を継続的に改善できる仕組みにする。</a:t>
            </a:r>
          </a:p>
        </p:txBody>
      </p:sp>
      <p:sp>
        <p:nvSpPr>
          <p:cNvPr id="26" name="">
            <a:extLst xmlns:a="http://schemas.openxmlformats.org/drawingml/2006/main">
              <a:ext uri="{FF2B5EF4-FFF2-40B4-BE49-F238E27FC236}">
                <a16:creationId xmlns:a16="http://schemas.microsoft.com/office/drawing/2014/main" id="{FCD2C02D-13D4-439A-BB74-794DE22F90B8}"/>
              </a:ext>
            </a:extLst>
          </p:cNvPr>
          <p:cNvSpPr>
            <a:spLocks xmlns:a="http://schemas.openxmlformats.org/drawingml/2006/main" noGrp="1"/>
          </p:cNvSpPr>
          <p:nvPr/>
        </p:nvSpPr>
        <p:spPr>
          <a:xfrm xmlns:a="http://schemas.openxmlformats.org/drawingml/2006/main">
            <a:off x="11068050" y="61912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8AA198"/>
                </a:solidFill>
              </a:defRPr>
            </a:pPr>
            <a:r>
              <a:rPr sz="1050" b="1">
                <a:solidFill>
                  <a:srgbClr val="8AA198"/>
                </a:solidFill>
              </a:rPr>
              <a:t>08</a:t>
            </a:r>
          </a:p>
        </p:txBody>
      </p:sp>
      <p:sp>
        <p:nvSpPr>
          <p:cNvPr id="27" name="">
            <a:extLst xmlns:a="http://schemas.openxmlformats.org/drawingml/2006/main">
              <a:ext uri="{FF2B5EF4-FFF2-40B4-BE49-F238E27FC236}">
                <a16:creationId xmlns:a16="http://schemas.microsoft.com/office/drawing/2014/main" id="{5711FB5A-DD53-4DE0-96F5-7B7E23B6DD0B}"/>
              </a:ext>
            </a:extLst>
          </p:cNvPr>
          <p:cNvSpPr>
            <a:spLocks xmlns:a="http://schemas.openxmlformats.org/drawingml/2006/main" noGrp="1"/>
          </p:cNvSpPr>
          <p:nvPr/>
        </p:nvSpPr>
        <p:spPr>
          <a:xfrm xmlns:a="http://schemas.openxmlformats.org/drawingml/2006/main">
            <a:off x="685800" y="6124575"/>
            <a:ext cx="9982200" cy="0"/>
          </a:xfrm>
          <a:prstGeom xmlns:a="http://schemas.openxmlformats.org/drawingml/2006/main" prst="line">
            <a:avLst/>
          </a:prstGeom>
          <a:noFill xmlns:a="http://schemas.openxmlformats.org/drawingml/2006/main"/>
          <a:ln xmlns:a="http://schemas.openxmlformats.org/drawingml/2006/main" w="9525">
            <a:solidFill>
              <a:srgbClr val="D7E7E0"/>
            </a:solidFill>
            <a:prstDash val="solid"/>
          </a:ln>
        </p:spPr>
      </p:sp>
    </p:spTree>
    <p:extLst>
      <p:ext uri="{BB962C8B-B14F-4D97-AF65-F5344CB8AC3E}">
        <p14:creationId xmlns:p14="http://schemas.microsoft.com/office/powerpoint/2010/main" val="125672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2026-07-06T12:46:37.0390000Z</dcterms:created>
  <dcterms:modified xsi:type="dcterms:W3CDTF">2026-07-06T12:46:37.0390000Z</dcterms:modified>
</coreProperties>
</file>